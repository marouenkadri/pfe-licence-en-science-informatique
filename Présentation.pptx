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8"/>
  </p:notesMasterIdLst>
  <p:sldIdLst>
    <p:sldId id="256" r:id="rId2"/>
    <p:sldId id="257" r:id="rId3"/>
    <p:sldId id="303" r:id="rId4"/>
    <p:sldId id="272" r:id="rId5"/>
    <p:sldId id="293" r:id="rId6"/>
    <p:sldId id="292" r:id="rId7"/>
    <p:sldId id="275" r:id="rId8"/>
    <p:sldId id="304" r:id="rId9"/>
    <p:sldId id="276" r:id="rId10"/>
    <p:sldId id="305" r:id="rId11"/>
    <p:sldId id="307" r:id="rId12"/>
    <p:sldId id="295" r:id="rId13"/>
    <p:sldId id="296" r:id="rId14"/>
    <p:sldId id="298" r:id="rId15"/>
    <p:sldId id="285" r:id="rId16"/>
    <p:sldId id="28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BB90"/>
    <a:srgbClr val="2367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03" autoAdjust="0"/>
    <p:restoredTop sz="87500" autoAdjust="0"/>
  </p:normalViewPr>
  <p:slideViewPr>
    <p:cSldViewPr snapToGrid="0">
      <p:cViewPr varScale="1">
        <p:scale>
          <a:sx n="77" d="100"/>
          <a:sy n="77" d="100"/>
        </p:scale>
        <p:origin x="336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2D12B2-A152-402B-A07F-1F03806CCF36}" type="datetimeFigureOut">
              <a:rPr lang="x-none" smtClean="0"/>
              <a:t>17/07/2020</a:t>
            </a:fld>
            <a:endParaRPr lang="x-none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x-non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13954A-0703-4A01-B024-C015AC89E8F1}" type="slidenum">
              <a:rPr lang="x-none" smtClean="0"/>
              <a:t>‹N°›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567255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Soulignons maintenant les grandes lignes du plan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Notre présentation s’articule autour du plan suivant : </a:t>
            </a:r>
          </a:p>
          <a:p>
            <a:pPr lvl="0"/>
            <a:endParaRPr lang="fr-FR" dirty="0"/>
          </a:p>
          <a:p>
            <a:pPr lvl="0"/>
            <a:r>
              <a:rPr lang="fr-FR" dirty="0">
                <a:latin typeface="Arial" pitchFamily="34"/>
              </a:rPr>
              <a:t>tout d’abord nous commencerons par une introduction </a:t>
            </a:r>
            <a:r>
              <a:rPr lang="fr-FR" dirty="0"/>
              <a:t>dans laquelle nous présenterons l’organisme d’accueil</a:t>
            </a:r>
            <a:endParaRPr lang="fr-FR" dirty="0">
              <a:latin typeface="Arial" pitchFamily="34"/>
            </a:endParaRPr>
          </a:p>
          <a:p>
            <a:pPr lvl="0"/>
            <a:r>
              <a:rPr lang="fr-FR" dirty="0">
                <a:latin typeface="Arial" pitchFamily="34"/>
              </a:rPr>
              <a:t>nous enchainerons par une description du contexte général, la problématique</a:t>
            </a:r>
            <a:r>
              <a:rPr lang="fr-FR" baseline="0" dirty="0">
                <a:latin typeface="Arial" pitchFamily="34"/>
              </a:rPr>
              <a:t> et la solution proposée</a:t>
            </a:r>
            <a:endParaRPr lang="fr-FR" dirty="0">
              <a:latin typeface="Arial" pitchFamily="34"/>
            </a:endParaRPr>
          </a:p>
          <a:p>
            <a:pPr lvl="0"/>
            <a:r>
              <a:rPr lang="fr-FR" dirty="0"/>
              <a:t>afin de pouvoir entamer une analyse et spécification des besoins.</a:t>
            </a:r>
            <a:endParaRPr lang="fr-FR" dirty="0">
              <a:latin typeface="Arial" pitchFamily="3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Après nous allons présenter l’a</a:t>
            </a:r>
            <a:r>
              <a:rPr lang="fr-FR" dirty="0">
                <a:latin typeface="Arial" pitchFamily="34"/>
              </a:rPr>
              <a:t>rchitecture adoptée, l’outil utilisé ainsi que le modèle de données 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atin typeface="Arial" pitchFamily="34"/>
              </a:rPr>
              <a:t>nous allons par la suite présenter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la phase de réalisation qui décrira la mise en œuvre de</a:t>
            </a:r>
            <a:r>
              <a:rPr lang="fr-FR" sz="1200" kern="1200" baseline="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la solution proposée </a:t>
            </a:r>
            <a:r>
              <a:rPr lang="fr-FR" dirty="0"/>
              <a:t>et enfin conclure et proposer des améliorations.</a:t>
            </a:r>
          </a:p>
          <a:p>
            <a:pPr lvl="0"/>
            <a:endParaRPr lang="fr-FR" dirty="0">
              <a:latin typeface="Arial" pitchFamily="34"/>
            </a:endParaRPr>
          </a:p>
          <a:p>
            <a:r>
              <a:rPr lang="fr-FR" sz="1200" b="1" dirty="0"/>
              <a:t>Nous commençons par l’introduction</a:t>
            </a:r>
          </a:p>
          <a:p>
            <a:endParaRPr lang="fr-FR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5000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0"/>
            <a:endParaRPr lang="fr-FR" dirty="0">
              <a:latin typeface="Arial" pitchFamily="34"/>
            </a:endParaRPr>
          </a:p>
          <a:p>
            <a:pPr lvl="0"/>
            <a:endParaRPr lang="fr-FR" dirty="0">
              <a:latin typeface="Arial" pitchFamily="34"/>
            </a:endParaRPr>
          </a:p>
          <a:p>
            <a:pPr lvl="0"/>
            <a:endParaRPr lang="fr-FR" dirty="0"/>
          </a:p>
          <a:p>
            <a:endParaRPr lang="x-non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13954A-0703-4A01-B024-C015AC89E8F1}" type="slidenum">
              <a:rPr lang="x-none" smtClean="0"/>
              <a:t>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937802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13954A-0703-4A01-B024-C015AC89E8F1}" type="slidenum">
              <a:rPr lang="x-none" smtClean="0"/>
              <a:t>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4102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5EF9-8201-46C8-BE28-36A78F0E35C4}" type="datetimeFigureOut">
              <a:rPr lang="x-none" smtClean="0"/>
              <a:t>17/07/2020</a:t>
            </a:fld>
            <a:endParaRPr lang="x-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D34E1-AFD4-4594-99D1-A48FA8DA5B6E}" type="slidenum">
              <a:rPr lang="x-none" smtClean="0"/>
              <a:t>‹N°›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899678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5EF9-8201-46C8-BE28-36A78F0E35C4}" type="datetimeFigureOut">
              <a:rPr lang="x-none" smtClean="0"/>
              <a:t>17/07/2020</a:t>
            </a:fld>
            <a:endParaRPr lang="x-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D34E1-AFD4-4594-99D1-A48FA8DA5B6E}" type="slidenum">
              <a:rPr lang="x-none" smtClean="0"/>
              <a:t>‹N°›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309914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5EF9-8201-46C8-BE28-36A78F0E35C4}" type="datetimeFigureOut">
              <a:rPr lang="x-none" smtClean="0"/>
              <a:t>17/07/2020</a:t>
            </a:fld>
            <a:endParaRPr lang="x-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D34E1-AFD4-4594-99D1-A48FA8DA5B6E}" type="slidenum">
              <a:rPr lang="x-none" smtClean="0"/>
              <a:t>‹N°›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258381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5EF9-8201-46C8-BE28-36A78F0E35C4}" type="datetimeFigureOut">
              <a:rPr lang="x-none" smtClean="0"/>
              <a:t>17/07/2020</a:t>
            </a:fld>
            <a:endParaRPr lang="x-non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D34E1-AFD4-4594-99D1-A48FA8DA5B6E}" type="slidenum">
              <a:rPr lang="x-none" smtClean="0"/>
              <a:t>‹N°›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743779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5EF9-8201-46C8-BE28-36A78F0E35C4}" type="datetimeFigureOut">
              <a:rPr lang="x-none" smtClean="0"/>
              <a:t>17/07/2020</a:t>
            </a:fld>
            <a:endParaRPr lang="x-non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D34E1-AFD4-4594-99D1-A48FA8DA5B6E}" type="slidenum">
              <a:rPr lang="x-none" smtClean="0"/>
              <a:t>‹N°›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497356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5EF9-8201-46C8-BE28-36A78F0E35C4}" type="datetimeFigureOut">
              <a:rPr lang="x-none" smtClean="0"/>
              <a:t>17/07/2020</a:t>
            </a:fld>
            <a:endParaRPr lang="x-non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D34E1-AFD4-4594-99D1-A48FA8DA5B6E}" type="slidenum">
              <a:rPr lang="x-none" smtClean="0"/>
              <a:t>‹N°›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6283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5EF9-8201-46C8-BE28-36A78F0E35C4}" type="datetimeFigureOut">
              <a:rPr lang="x-none" smtClean="0"/>
              <a:t>17/07/2020</a:t>
            </a:fld>
            <a:endParaRPr lang="x-non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D34E1-AFD4-4594-99D1-A48FA8DA5B6E}" type="slidenum">
              <a:rPr lang="x-none" smtClean="0"/>
              <a:t>‹N°›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977251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5EF9-8201-46C8-BE28-36A78F0E35C4}" type="datetimeFigureOut">
              <a:rPr lang="x-none" smtClean="0"/>
              <a:t>17/07/2020</a:t>
            </a:fld>
            <a:endParaRPr lang="x-non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D34E1-AFD4-4594-99D1-A48FA8DA5B6E}" type="slidenum">
              <a:rPr lang="x-none" smtClean="0"/>
              <a:t>‹N°›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773092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5EF9-8201-46C8-BE28-36A78F0E35C4}" type="datetimeFigureOut">
              <a:rPr lang="x-none" smtClean="0"/>
              <a:t>17/07/2020</a:t>
            </a:fld>
            <a:endParaRPr lang="x-non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D34E1-AFD4-4594-99D1-A48FA8DA5B6E}" type="slidenum">
              <a:rPr lang="x-none" smtClean="0"/>
              <a:t>‹N°›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422867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5EF9-8201-46C8-BE28-36A78F0E35C4}" type="datetimeFigureOut">
              <a:rPr lang="x-none" smtClean="0"/>
              <a:t>17/07/2020</a:t>
            </a:fld>
            <a:endParaRPr lang="x-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D34E1-AFD4-4594-99D1-A48FA8DA5B6E}" type="slidenum">
              <a:rPr lang="x-none" smtClean="0"/>
              <a:t>‹N°›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037852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5EF9-8201-46C8-BE28-36A78F0E35C4}" type="datetimeFigureOut">
              <a:rPr lang="x-none" smtClean="0"/>
              <a:t>17/07/2020</a:t>
            </a:fld>
            <a:endParaRPr lang="x-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D34E1-AFD4-4594-99D1-A48FA8DA5B6E}" type="slidenum">
              <a:rPr lang="x-none" smtClean="0"/>
              <a:t>‹N°›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970328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75EF9-8201-46C8-BE28-36A78F0E35C4}" type="datetimeFigureOut">
              <a:rPr lang="x-none" smtClean="0"/>
              <a:t>17/07/2020</a:t>
            </a:fld>
            <a:endParaRPr lang="x-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BD34E1-AFD4-4594-99D1-A48FA8DA5B6E}" type="slidenum">
              <a:rPr lang="x-none" smtClean="0"/>
              <a:t>‹N°›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482982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18" Type="http://schemas.openxmlformats.org/officeDocument/2006/relationships/image" Target="../media/image26.svg"/><Relationship Id="rId3" Type="http://schemas.openxmlformats.org/officeDocument/2006/relationships/image" Target="../media/image11.png"/><Relationship Id="rId7" Type="http://schemas.openxmlformats.org/officeDocument/2006/relationships/image" Target="../media/image15.jp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image" Target="../media/image10.png"/><Relationship Id="rId16" Type="http://schemas.openxmlformats.org/officeDocument/2006/relationships/image" Target="../media/image2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g"/><Relationship Id="rId11" Type="http://schemas.openxmlformats.org/officeDocument/2006/relationships/image" Target="../media/image19.svg"/><Relationship Id="rId5" Type="http://schemas.openxmlformats.org/officeDocument/2006/relationships/image" Target="../media/image13.png"/><Relationship Id="rId15" Type="http://schemas.openxmlformats.org/officeDocument/2006/relationships/image" Target="../media/image23.sv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testingdigital.com/fr/test-manuel" TargetMode="External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4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C0452E5-A2CA-4206-84FE-15E97378A691}"/>
              </a:ext>
            </a:extLst>
          </p:cNvPr>
          <p:cNvSpPr/>
          <p:nvPr/>
        </p:nvSpPr>
        <p:spPr>
          <a:xfrm>
            <a:off x="-33648" y="0"/>
            <a:ext cx="12225647" cy="685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fr-FR" sz="3600" b="1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Solution d’automation des tets pour des systèmes embarqués de l’automobile sous Linux</a:t>
            </a: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66B4A157-C85A-43AC-A782-76D3265B94C9}"/>
              </a:ext>
            </a:extLst>
          </p:cNvPr>
          <p:cNvSpPr txBox="1"/>
          <p:nvPr/>
        </p:nvSpPr>
        <p:spPr>
          <a:xfrm>
            <a:off x="7999338" y="5025720"/>
            <a:ext cx="2624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fr-FR" b="1" dirty="0">
                <a:latin typeface="+mj-lt"/>
              </a:rPr>
              <a:t>Marouen Kadri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0B7286-EF2E-46F1-A0FD-F78900BBE1AA}"/>
              </a:ext>
            </a:extLst>
          </p:cNvPr>
          <p:cNvSpPr/>
          <p:nvPr/>
        </p:nvSpPr>
        <p:spPr>
          <a:xfrm>
            <a:off x="7575225" y="6028985"/>
            <a:ext cx="457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fr-F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Année Universitaire [2019 - 2020]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ous-titre 2">
            <a:extLst>
              <a:ext uri="{FF2B5EF4-FFF2-40B4-BE49-F238E27FC236}">
                <a16:creationId xmlns:a16="http://schemas.microsoft.com/office/drawing/2014/main" id="{18FED788-F9F7-4AA7-94EC-706D4756CF43}"/>
              </a:ext>
            </a:extLst>
          </p:cNvPr>
          <p:cNvSpPr txBox="1">
            <a:spLocks/>
          </p:cNvSpPr>
          <p:nvPr/>
        </p:nvSpPr>
        <p:spPr>
          <a:xfrm>
            <a:off x="8497519" y="4532491"/>
            <a:ext cx="2938251" cy="376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latin typeface="Century Gothic" panose="020B0502020202020204" pitchFamily="34" charset="0"/>
              </a:rPr>
              <a:t>Réalisé par:</a:t>
            </a:r>
          </a:p>
        </p:txBody>
      </p:sp>
      <p:sp>
        <p:nvSpPr>
          <p:cNvPr id="31" name="Sous-titre 2">
            <a:extLst>
              <a:ext uri="{FF2B5EF4-FFF2-40B4-BE49-F238E27FC236}">
                <a16:creationId xmlns:a16="http://schemas.microsoft.com/office/drawing/2014/main" id="{A0798927-DD83-45CB-9778-C63700371741}"/>
              </a:ext>
            </a:extLst>
          </p:cNvPr>
          <p:cNvSpPr txBox="1">
            <a:spLocks/>
          </p:cNvSpPr>
          <p:nvPr/>
        </p:nvSpPr>
        <p:spPr>
          <a:xfrm>
            <a:off x="1016061" y="4525669"/>
            <a:ext cx="2203688" cy="564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latin typeface="Century Gothic" panose="020B0502020202020204" pitchFamily="34" charset="0"/>
              </a:rPr>
              <a:t>Encadré par:</a:t>
            </a:r>
          </a:p>
        </p:txBody>
      </p:sp>
      <p:sp>
        <p:nvSpPr>
          <p:cNvPr id="32" name="ZoneTexte 10">
            <a:extLst>
              <a:ext uri="{FF2B5EF4-FFF2-40B4-BE49-F238E27FC236}">
                <a16:creationId xmlns:a16="http://schemas.microsoft.com/office/drawing/2014/main" id="{A9E6A83B-7FC4-47F3-B358-1ABD28903A2E}"/>
              </a:ext>
            </a:extLst>
          </p:cNvPr>
          <p:cNvSpPr txBox="1"/>
          <p:nvPr/>
        </p:nvSpPr>
        <p:spPr>
          <a:xfrm>
            <a:off x="1116831" y="5006678"/>
            <a:ext cx="19367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b="1" dirty="0">
                <a:latin typeface="+mj-lt"/>
              </a:rPr>
              <a:t>Madame Ines GAM</a:t>
            </a:r>
          </a:p>
          <a:p>
            <a:pPr algn="ctr"/>
            <a:endParaRPr lang="fr-FR" b="1" dirty="0">
              <a:latin typeface="+mj-lt"/>
            </a:endParaRPr>
          </a:p>
        </p:txBody>
      </p:sp>
      <p:sp>
        <p:nvSpPr>
          <p:cNvPr id="33" name="ZoneTexte 10">
            <a:extLst>
              <a:ext uri="{FF2B5EF4-FFF2-40B4-BE49-F238E27FC236}">
                <a16:creationId xmlns:a16="http://schemas.microsoft.com/office/drawing/2014/main" id="{9EA94029-E2F7-4A73-B19F-002821FC54B5}"/>
              </a:ext>
            </a:extLst>
          </p:cNvPr>
          <p:cNvSpPr txBox="1"/>
          <p:nvPr/>
        </p:nvSpPr>
        <p:spPr>
          <a:xfrm>
            <a:off x="1808141" y="544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b="1" dirty="0">
              <a:solidFill>
                <a:schemeClr val="accent2"/>
              </a:solidFill>
              <a:latin typeface="+mj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55" y="415720"/>
            <a:ext cx="2286000" cy="97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0081" y="347496"/>
            <a:ext cx="1695867" cy="1374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403273" y="1021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4" name="TextBox 3"/>
          <p:cNvSpPr txBox="1"/>
          <p:nvPr/>
        </p:nvSpPr>
        <p:spPr>
          <a:xfrm>
            <a:off x="2418873" y="521238"/>
            <a:ext cx="76738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Projet de Fin d’Études</a:t>
            </a:r>
          </a:p>
          <a:p>
            <a:pPr algn="ctr"/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Pour l’obtention de la Licence Fondamentale en Sciences de l’Informatique</a:t>
            </a:r>
          </a:p>
          <a:p>
            <a:pPr algn="ctr"/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Spécialité : Sciences de L’informatique</a:t>
            </a:r>
            <a:endParaRPr lang="fr-FR" dirty="0"/>
          </a:p>
          <a:p>
            <a:endParaRPr lang="fr-FR" dirty="0"/>
          </a:p>
        </p:txBody>
      </p:sp>
      <p:sp>
        <p:nvSpPr>
          <p:cNvPr id="6" name="TextBox 5"/>
          <p:cNvSpPr txBox="1"/>
          <p:nvPr/>
        </p:nvSpPr>
        <p:spPr>
          <a:xfrm>
            <a:off x="1116831" y="5621084"/>
            <a:ext cx="2919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+mj-lt"/>
              </a:rPr>
              <a:t>Monsieur Wajdi ZAIRI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5343" y="4539314"/>
            <a:ext cx="2120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Organisme d’accueil:</a:t>
            </a:r>
          </a:p>
        </p:txBody>
      </p:sp>
      <p:pic>
        <p:nvPicPr>
          <p:cNvPr id="9" name="Image 8" descr="Une image contenant dessin, signe&#10;&#10;Description générée automatiquement">
            <a:extLst>
              <a:ext uri="{FF2B5EF4-FFF2-40B4-BE49-F238E27FC236}">
                <a16:creationId xmlns:a16="http://schemas.microsoft.com/office/drawing/2014/main" id="{384AC903-7FE5-473B-956D-7B002929C9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4511" y="5202861"/>
            <a:ext cx="2919685" cy="120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338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">
            <a:extLst>
              <a:ext uri="{FF2B5EF4-FFF2-40B4-BE49-F238E27FC236}">
                <a16:creationId xmlns:a16="http://schemas.microsoft.com/office/drawing/2014/main" id="{BEFC6DCE-BDEC-445B-B453-FDB10BD99F8D}"/>
              </a:ext>
            </a:extLst>
          </p:cNvPr>
          <p:cNvSpPr txBox="1">
            <a:spLocks/>
          </p:cNvSpPr>
          <p:nvPr/>
        </p:nvSpPr>
        <p:spPr>
          <a:xfrm>
            <a:off x="246501" y="177849"/>
            <a:ext cx="11640378" cy="495735"/>
          </a:xfrm>
          <a:prstGeom prst="rect">
            <a:avLst/>
          </a:prstGeom>
        </p:spPr>
        <p:txBody>
          <a:bodyPr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n/>
                <a:solidFill>
                  <a:schemeClr val="accent3"/>
                </a:solidFill>
                <a:latin typeface="Source Sans Pro" pitchFamily="34" charset="0"/>
              </a:rPr>
              <a:t>Plan</a:t>
            </a:r>
            <a:endParaRPr lang="fr-FR" sz="3200" b="1" dirty="0">
              <a:ln/>
              <a:solidFill>
                <a:schemeClr val="accent3"/>
              </a:solidFill>
            </a:endParaRPr>
          </a:p>
        </p:txBody>
      </p:sp>
      <p:cxnSp>
        <p:nvCxnSpPr>
          <p:cNvPr id="30" name="Straight Connector 78">
            <a:extLst>
              <a:ext uri="{FF2B5EF4-FFF2-40B4-BE49-F238E27FC236}">
                <a16:creationId xmlns:a16="http://schemas.microsoft.com/office/drawing/2014/main" id="{2A520477-11E5-4C0F-A68B-62CAE23C5A9A}"/>
              </a:ext>
            </a:extLst>
          </p:cNvPr>
          <p:cNvCxnSpPr>
            <a:cxnSpLocks/>
          </p:cNvCxnSpPr>
          <p:nvPr/>
        </p:nvCxnSpPr>
        <p:spPr>
          <a:xfrm flipH="1">
            <a:off x="6095999" y="1082520"/>
            <a:ext cx="1" cy="4960471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79">
            <a:extLst>
              <a:ext uri="{FF2B5EF4-FFF2-40B4-BE49-F238E27FC236}">
                <a16:creationId xmlns:a16="http://schemas.microsoft.com/office/drawing/2014/main" id="{9CD840AA-F5BF-427B-BF20-23CD48A4B5B2}"/>
              </a:ext>
            </a:extLst>
          </p:cNvPr>
          <p:cNvCxnSpPr>
            <a:cxnSpLocks/>
          </p:cNvCxnSpPr>
          <p:nvPr/>
        </p:nvCxnSpPr>
        <p:spPr>
          <a:xfrm>
            <a:off x="6296519" y="1312456"/>
            <a:ext cx="689885" cy="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ardrop 80">
            <a:extLst>
              <a:ext uri="{FF2B5EF4-FFF2-40B4-BE49-F238E27FC236}">
                <a16:creationId xmlns:a16="http://schemas.microsoft.com/office/drawing/2014/main" id="{BFF39215-B4A6-4F98-8D59-2D30D3D49DB2}"/>
              </a:ext>
            </a:extLst>
          </p:cNvPr>
          <p:cNvSpPr/>
          <p:nvPr/>
        </p:nvSpPr>
        <p:spPr>
          <a:xfrm rot="3361506">
            <a:off x="5177055" y="917149"/>
            <a:ext cx="625388" cy="656293"/>
          </a:xfrm>
          <a:prstGeom prst="teardrop">
            <a:avLst/>
          </a:prstGeom>
          <a:noFill/>
          <a:ln w="57150">
            <a:solidFill>
              <a:srgbClr val="FF86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81">
            <a:extLst>
              <a:ext uri="{FF2B5EF4-FFF2-40B4-BE49-F238E27FC236}">
                <a16:creationId xmlns:a16="http://schemas.microsoft.com/office/drawing/2014/main" id="{EEDAFB5E-AD34-48DE-AC59-A64A1D913E06}"/>
              </a:ext>
            </a:extLst>
          </p:cNvPr>
          <p:cNvSpPr/>
          <p:nvPr/>
        </p:nvSpPr>
        <p:spPr>
          <a:xfrm>
            <a:off x="5989381" y="1215917"/>
            <a:ext cx="213237" cy="202413"/>
          </a:xfrm>
          <a:prstGeom prst="ellipse">
            <a:avLst/>
          </a:prstGeom>
          <a:solidFill>
            <a:srgbClr val="FF860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84">
            <a:extLst>
              <a:ext uri="{FF2B5EF4-FFF2-40B4-BE49-F238E27FC236}">
                <a16:creationId xmlns:a16="http://schemas.microsoft.com/office/drawing/2014/main" id="{E755FB86-DC0C-424C-9CAD-F315838F72D9}"/>
              </a:ext>
            </a:extLst>
          </p:cNvPr>
          <p:cNvSpPr/>
          <p:nvPr/>
        </p:nvSpPr>
        <p:spPr>
          <a:xfrm>
            <a:off x="5991064" y="2110325"/>
            <a:ext cx="213237" cy="202413"/>
          </a:xfrm>
          <a:prstGeom prst="ellipse">
            <a:avLst/>
          </a:prstGeom>
          <a:solidFill>
            <a:srgbClr val="A1BB2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87">
            <a:extLst>
              <a:ext uri="{FF2B5EF4-FFF2-40B4-BE49-F238E27FC236}">
                <a16:creationId xmlns:a16="http://schemas.microsoft.com/office/drawing/2014/main" id="{4357996C-1CA2-4005-9A4D-4CEA4EC06E65}"/>
              </a:ext>
            </a:extLst>
          </p:cNvPr>
          <p:cNvSpPr/>
          <p:nvPr/>
        </p:nvSpPr>
        <p:spPr>
          <a:xfrm rot="10597180">
            <a:off x="5983598" y="2956857"/>
            <a:ext cx="213237" cy="202413"/>
          </a:xfrm>
          <a:prstGeom prst="ellipse">
            <a:avLst/>
          </a:prstGeom>
          <a:solidFill>
            <a:srgbClr val="01264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88">
            <a:extLst>
              <a:ext uri="{FF2B5EF4-FFF2-40B4-BE49-F238E27FC236}">
                <a16:creationId xmlns:a16="http://schemas.microsoft.com/office/drawing/2014/main" id="{608CA5CD-CAB3-4EAB-891F-435EEAD5601A}"/>
              </a:ext>
            </a:extLst>
          </p:cNvPr>
          <p:cNvSpPr txBox="1"/>
          <p:nvPr/>
        </p:nvSpPr>
        <p:spPr>
          <a:xfrm>
            <a:off x="5310852" y="996317"/>
            <a:ext cx="259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1</a:t>
            </a:r>
          </a:p>
        </p:txBody>
      </p:sp>
      <p:sp>
        <p:nvSpPr>
          <p:cNvPr id="39" name="TextBox 89">
            <a:extLst>
              <a:ext uri="{FF2B5EF4-FFF2-40B4-BE49-F238E27FC236}">
                <a16:creationId xmlns:a16="http://schemas.microsoft.com/office/drawing/2014/main" id="{BAE33265-85C2-48BD-88AD-84BFE6A9DE31}"/>
              </a:ext>
            </a:extLst>
          </p:cNvPr>
          <p:cNvSpPr txBox="1"/>
          <p:nvPr/>
        </p:nvSpPr>
        <p:spPr>
          <a:xfrm>
            <a:off x="6543464" y="1840791"/>
            <a:ext cx="413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2</a:t>
            </a:r>
          </a:p>
        </p:txBody>
      </p:sp>
      <p:sp>
        <p:nvSpPr>
          <p:cNvPr id="40" name="TextBox 90">
            <a:extLst>
              <a:ext uri="{FF2B5EF4-FFF2-40B4-BE49-F238E27FC236}">
                <a16:creationId xmlns:a16="http://schemas.microsoft.com/office/drawing/2014/main" id="{A56D776C-E1C2-4DED-B9CD-247A9656CB75}"/>
              </a:ext>
            </a:extLst>
          </p:cNvPr>
          <p:cNvSpPr txBox="1"/>
          <p:nvPr/>
        </p:nvSpPr>
        <p:spPr>
          <a:xfrm>
            <a:off x="5245490" y="2666316"/>
            <a:ext cx="39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3</a:t>
            </a:r>
          </a:p>
        </p:txBody>
      </p:sp>
      <p:sp>
        <p:nvSpPr>
          <p:cNvPr id="42" name="Oval 11">
            <a:extLst>
              <a:ext uri="{FF2B5EF4-FFF2-40B4-BE49-F238E27FC236}">
                <a16:creationId xmlns:a16="http://schemas.microsoft.com/office/drawing/2014/main" id="{32C28E92-3B49-474E-A598-2856DA84BE93}"/>
              </a:ext>
            </a:extLst>
          </p:cNvPr>
          <p:cNvSpPr/>
          <p:nvPr/>
        </p:nvSpPr>
        <p:spPr>
          <a:xfrm>
            <a:off x="5989381" y="3776740"/>
            <a:ext cx="213237" cy="202413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Oval 35">
            <a:extLst>
              <a:ext uri="{FF2B5EF4-FFF2-40B4-BE49-F238E27FC236}">
                <a16:creationId xmlns:a16="http://schemas.microsoft.com/office/drawing/2014/main" id="{1A41158D-2BB3-49CA-AC1E-4E737944324F}"/>
              </a:ext>
            </a:extLst>
          </p:cNvPr>
          <p:cNvSpPr/>
          <p:nvPr/>
        </p:nvSpPr>
        <p:spPr>
          <a:xfrm>
            <a:off x="5991065" y="4645033"/>
            <a:ext cx="213237" cy="202413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19">
            <a:extLst>
              <a:ext uri="{FF2B5EF4-FFF2-40B4-BE49-F238E27FC236}">
                <a16:creationId xmlns:a16="http://schemas.microsoft.com/office/drawing/2014/main" id="{F899679B-B7FA-4541-B025-42B996F7477E}"/>
              </a:ext>
            </a:extLst>
          </p:cNvPr>
          <p:cNvSpPr txBox="1"/>
          <p:nvPr/>
        </p:nvSpPr>
        <p:spPr>
          <a:xfrm>
            <a:off x="6527036" y="3476008"/>
            <a:ext cx="377672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4</a:t>
            </a:r>
          </a:p>
        </p:txBody>
      </p:sp>
      <p:sp>
        <p:nvSpPr>
          <p:cNvPr id="46" name="TextBox 57">
            <a:extLst>
              <a:ext uri="{FF2B5EF4-FFF2-40B4-BE49-F238E27FC236}">
                <a16:creationId xmlns:a16="http://schemas.microsoft.com/office/drawing/2014/main" id="{8CB17C3E-AA9C-4599-AB93-20B36B6EDF8B}"/>
              </a:ext>
            </a:extLst>
          </p:cNvPr>
          <p:cNvSpPr txBox="1"/>
          <p:nvPr/>
        </p:nvSpPr>
        <p:spPr>
          <a:xfrm>
            <a:off x="5285453" y="4377101"/>
            <a:ext cx="358321" cy="526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5</a:t>
            </a:r>
          </a:p>
        </p:txBody>
      </p:sp>
      <p:sp>
        <p:nvSpPr>
          <p:cNvPr id="48" name="Teardrop 34">
            <a:extLst>
              <a:ext uri="{FF2B5EF4-FFF2-40B4-BE49-F238E27FC236}">
                <a16:creationId xmlns:a16="http://schemas.microsoft.com/office/drawing/2014/main" id="{2DDC729B-9043-4364-B691-586180DB71D7}"/>
              </a:ext>
            </a:extLst>
          </p:cNvPr>
          <p:cNvSpPr/>
          <p:nvPr/>
        </p:nvSpPr>
        <p:spPr>
          <a:xfrm rot="12536703">
            <a:off x="6358624" y="5203069"/>
            <a:ext cx="648106" cy="551311"/>
          </a:xfrm>
          <a:prstGeom prst="teardrop">
            <a:avLst/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Oval 35">
            <a:extLst>
              <a:ext uri="{FF2B5EF4-FFF2-40B4-BE49-F238E27FC236}">
                <a16:creationId xmlns:a16="http://schemas.microsoft.com/office/drawing/2014/main" id="{82F4C2E5-A746-4799-8516-0380F51796E2}"/>
              </a:ext>
            </a:extLst>
          </p:cNvPr>
          <p:cNvSpPr/>
          <p:nvPr/>
        </p:nvSpPr>
        <p:spPr>
          <a:xfrm>
            <a:off x="5973926" y="5540876"/>
            <a:ext cx="213237" cy="202413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TextBox 57">
            <a:extLst>
              <a:ext uri="{FF2B5EF4-FFF2-40B4-BE49-F238E27FC236}">
                <a16:creationId xmlns:a16="http://schemas.microsoft.com/office/drawing/2014/main" id="{136030CF-1D74-461F-9F44-9B16DFE285DC}"/>
              </a:ext>
            </a:extLst>
          </p:cNvPr>
          <p:cNvSpPr txBox="1"/>
          <p:nvPr/>
        </p:nvSpPr>
        <p:spPr>
          <a:xfrm>
            <a:off x="6495633" y="5220069"/>
            <a:ext cx="365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6</a:t>
            </a:r>
          </a:p>
        </p:txBody>
      </p:sp>
      <p:sp>
        <p:nvSpPr>
          <p:cNvPr id="51" name="TextBox 122">
            <a:extLst>
              <a:ext uri="{FF2B5EF4-FFF2-40B4-BE49-F238E27FC236}">
                <a16:creationId xmlns:a16="http://schemas.microsoft.com/office/drawing/2014/main" id="{CA4E0234-7290-4D9C-8565-BF9E081BA7BE}"/>
              </a:ext>
            </a:extLst>
          </p:cNvPr>
          <p:cNvSpPr txBox="1"/>
          <p:nvPr/>
        </p:nvSpPr>
        <p:spPr>
          <a:xfrm>
            <a:off x="7207888" y="1097571"/>
            <a:ext cx="3539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Introduction</a:t>
            </a:r>
          </a:p>
        </p:txBody>
      </p:sp>
      <p:sp>
        <p:nvSpPr>
          <p:cNvPr id="52" name="TextBox 123">
            <a:extLst>
              <a:ext uri="{FF2B5EF4-FFF2-40B4-BE49-F238E27FC236}">
                <a16:creationId xmlns:a16="http://schemas.microsoft.com/office/drawing/2014/main" id="{D6225517-BB26-4697-822F-95A04AE3017A}"/>
              </a:ext>
            </a:extLst>
          </p:cNvPr>
          <p:cNvSpPr txBox="1"/>
          <p:nvPr/>
        </p:nvSpPr>
        <p:spPr>
          <a:xfrm>
            <a:off x="3061548" y="2005257"/>
            <a:ext cx="1974167" cy="369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Cadre du projet</a:t>
            </a:r>
          </a:p>
        </p:txBody>
      </p:sp>
      <p:sp>
        <p:nvSpPr>
          <p:cNvPr id="53" name="TextBox 124">
            <a:extLst>
              <a:ext uri="{FF2B5EF4-FFF2-40B4-BE49-F238E27FC236}">
                <a16:creationId xmlns:a16="http://schemas.microsoft.com/office/drawing/2014/main" id="{0A322B03-B74D-4760-BFE4-DA54C676BAE4}"/>
              </a:ext>
            </a:extLst>
          </p:cNvPr>
          <p:cNvSpPr txBox="1"/>
          <p:nvPr/>
        </p:nvSpPr>
        <p:spPr>
          <a:xfrm>
            <a:off x="7101668" y="2810290"/>
            <a:ext cx="3112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Branche fonctionnelle et branche technique   « 2TYP »</a:t>
            </a:r>
          </a:p>
        </p:txBody>
      </p:sp>
      <p:sp>
        <p:nvSpPr>
          <p:cNvPr id="54" name="TextBox 125">
            <a:extLst>
              <a:ext uri="{FF2B5EF4-FFF2-40B4-BE49-F238E27FC236}">
                <a16:creationId xmlns:a16="http://schemas.microsoft.com/office/drawing/2014/main" id="{0F1D0F6D-5F38-4632-A0EE-E62A02A263E9}"/>
              </a:ext>
            </a:extLst>
          </p:cNvPr>
          <p:cNvSpPr txBox="1"/>
          <p:nvPr/>
        </p:nvSpPr>
        <p:spPr>
          <a:xfrm>
            <a:off x="1712124" y="3687435"/>
            <a:ext cx="5330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dirty="0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Conception</a:t>
            </a:r>
          </a:p>
        </p:txBody>
      </p:sp>
      <p:sp>
        <p:nvSpPr>
          <p:cNvPr id="55" name="TextBox 126">
            <a:extLst>
              <a:ext uri="{FF2B5EF4-FFF2-40B4-BE49-F238E27FC236}">
                <a16:creationId xmlns:a16="http://schemas.microsoft.com/office/drawing/2014/main" id="{30142ECC-28A9-4193-8D33-54CCFA1C9A6D}"/>
              </a:ext>
            </a:extLst>
          </p:cNvPr>
          <p:cNvSpPr txBox="1"/>
          <p:nvPr/>
        </p:nvSpPr>
        <p:spPr>
          <a:xfrm>
            <a:off x="7141382" y="4561573"/>
            <a:ext cx="3539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Réalisation</a:t>
            </a:r>
          </a:p>
        </p:txBody>
      </p:sp>
      <p:sp>
        <p:nvSpPr>
          <p:cNvPr id="56" name="TextBox 127">
            <a:extLst>
              <a:ext uri="{FF2B5EF4-FFF2-40B4-BE49-F238E27FC236}">
                <a16:creationId xmlns:a16="http://schemas.microsoft.com/office/drawing/2014/main" id="{923574A9-E38F-499D-B035-2FF3186516F4}"/>
              </a:ext>
            </a:extLst>
          </p:cNvPr>
          <p:cNvSpPr txBox="1"/>
          <p:nvPr/>
        </p:nvSpPr>
        <p:spPr>
          <a:xfrm>
            <a:off x="1496147" y="5457416"/>
            <a:ext cx="3539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Conclusions et perspectives</a:t>
            </a:r>
          </a:p>
        </p:txBody>
      </p:sp>
      <p:sp>
        <p:nvSpPr>
          <p:cNvPr id="57" name="Teardrop 34">
            <a:extLst>
              <a:ext uri="{FF2B5EF4-FFF2-40B4-BE49-F238E27FC236}">
                <a16:creationId xmlns:a16="http://schemas.microsoft.com/office/drawing/2014/main" id="{F7A5CD0C-D913-4B7D-9456-8C4690D677A1}"/>
              </a:ext>
            </a:extLst>
          </p:cNvPr>
          <p:cNvSpPr/>
          <p:nvPr/>
        </p:nvSpPr>
        <p:spPr>
          <a:xfrm rot="3361506">
            <a:off x="5153730" y="2631605"/>
            <a:ext cx="625388" cy="656293"/>
          </a:xfrm>
          <a:prstGeom prst="teardrop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ardrop 35">
            <a:extLst>
              <a:ext uri="{FF2B5EF4-FFF2-40B4-BE49-F238E27FC236}">
                <a16:creationId xmlns:a16="http://schemas.microsoft.com/office/drawing/2014/main" id="{FA196B7A-2664-4769-9CEF-BC87232F8B54}"/>
              </a:ext>
            </a:extLst>
          </p:cNvPr>
          <p:cNvSpPr/>
          <p:nvPr/>
        </p:nvSpPr>
        <p:spPr>
          <a:xfrm rot="12597272">
            <a:off x="6407167" y="3385462"/>
            <a:ext cx="625388" cy="656293"/>
          </a:xfrm>
          <a:prstGeom prst="teardrop">
            <a:avLst/>
          </a:prstGeom>
          <a:noFill/>
          <a:ln w="571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ardrop 36">
            <a:extLst>
              <a:ext uri="{FF2B5EF4-FFF2-40B4-BE49-F238E27FC236}">
                <a16:creationId xmlns:a16="http://schemas.microsoft.com/office/drawing/2014/main" id="{AEF7BCB9-B298-4C08-8EA9-D699424B0C16}"/>
              </a:ext>
            </a:extLst>
          </p:cNvPr>
          <p:cNvSpPr/>
          <p:nvPr/>
        </p:nvSpPr>
        <p:spPr>
          <a:xfrm rot="12662125">
            <a:off x="6408885" y="1823462"/>
            <a:ext cx="625388" cy="589140"/>
          </a:xfrm>
          <a:prstGeom prst="teardrop">
            <a:avLst/>
          </a:prstGeom>
          <a:noFill/>
          <a:ln w="57150">
            <a:solidFill>
              <a:srgbClr val="7C91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C912F"/>
              </a:solidFill>
            </a:endParaRPr>
          </a:p>
        </p:txBody>
      </p:sp>
      <p:sp>
        <p:nvSpPr>
          <p:cNvPr id="60" name="Teardrop 37">
            <a:extLst>
              <a:ext uri="{FF2B5EF4-FFF2-40B4-BE49-F238E27FC236}">
                <a16:creationId xmlns:a16="http://schemas.microsoft.com/office/drawing/2014/main" id="{E0EDB8E9-7764-460F-B814-26B61EC335D7}"/>
              </a:ext>
            </a:extLst>
          </p:cNvPr>
          <p:cNvSpPr/>
          <p:nvPr/>
        </p:nvSpPr>
        <p:spPr>
          <a:xfrm rot="3361506">
            <a:off x="5149472" y="4323020"/>
            <a:ext cx="630284" cy="648629"/>
          </a:xfrm>
          <a:prstGeom prst="teardrop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Connector 79">
            <a:extLst>
              <a:ext uri="{FF2B5EF4-FFF2-40B4-BE49-F238E27FC236}">
                <a16:creationId xmlns:a16="http://schemas.microsoft.com/office/drawing/2014/main" id="{5652DB17-AD95-4351-BAFF-B500764B8628}"/>
              </a:ext>
            </a:extLst>
          </p:cNvPr>
          <p:cNvCxnSpPr>
            <a:cxnSpLocks/>
          </p:cNvCxnSpPr>
          <p:nvPr/>
        </p:nvCxnSpPr>
        <p:spPr>
          <a:xfrm>
            <a:off x="5180059" y="2217576"/>
            <a:ext cx="689885" cy="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79">
            <a:extLst>
              <a:ext uri="{FF2B5EF4-FFF2-40B4-BE49-F238E27FC236}">
                <a16:creationId xmlns:a16="http://schemas.microsoft.com/office/drawing/2014/main" id="{6694B3AC-271D-4F74-B41E-52E17FF56DF8}"/>
              </a:ext>
            </a:extLst>
          </p:cNvPr>
          <p:cNvCxnSpPr>
            <a:cxnSpLocks/>
          </p:cNvCxnSpPr>
          <p:nvPr/>
        </p:nvCxnSpPr>
        <p:spPr>
          <a:xfrm>
            <a:off x="6296519" y="3058063"/>
            <a:ext cx="689885" cy="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79">
            <a:extLst>
              <a:ext uri="{FF2B5EF4-FFF2-40B4-BE49-F238E27FC236}">
                <a16:creationId xmlns:a16="http://schemas.microsoft.com/office/drawing/2014/main" id="{61D710DC-D605-4BFE-99BC-3D0F091BB872}"/>
              </a:ext>
            </a:extLst>
          </p:cNvPr>
          <p:cNvCxnSpPr>
            <a:cxnSpLocks/>
          </p:cNvCxnSpPr>
          <p:nvPr/>
        </p:nvCxnSpPr>
        <p:spPr>
          <a:xfrm>
            <a:off x="5205210" y="3877946"/>
            <a:ext cx="689885" cy="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79">
            <a:extLst>
              <a:ext uri="{FF2B5EF4-FFF2-40B4-BE49-F238E27FC236}">
                <a16:creationId xmlns:a16="http://schemas.microsoft.com/office/drawing/2014/main" id="{2FDC9B2F-27DF-4D74-A550-6934F82AA487}"/>
              </a:ext>
            </a:extLst>
          </p:cNvPr>
          <p:cNvCxnSpPr>
            <a:cxnSpLocks/>
          </p:cNvCxnSpPr>
          <p:nvPr/>
        </p:nvCxnSpPr>
        <p:spPr>
          <a:xfrm>
            <a:off x="6296518" y="4746239"/>
            <a:ext cx="689885" cy="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79">
            <a:extLst>
              <a:ext uri="{FF2B5EF4-FFF2-40B4-BE49-F238E27FC236}">
                <a16:creationId xmlns:a16="http://schemas.microsoft.com/office/drawing/2014/main" id="{F154961C-1EB0-4CE9-8ED8-8A338E862A40}"/>
              </a:ext>
            </a:extLst>
          </p:cNvPr>
          <p:cNvCxnSpPr>
            <a:cxnSpLocks/>
          </p:cNvCxnSpPr>
          <p:nvPr/>
        </p:nvCxnSpPr>
        <p:spPr>
          <a:xfrm>
            <a:off x="5205409" y="5646547"/>
            <a:ext cx="689885" cy="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0" name="Picture 14">
            <a:extLst>
              <a:ext uri="{FF2B5EF4-FFF2-40B4-BE49-F238E27FC236}">
                <a16:creationId xmlns:a16="http://schemas.microsoft.com/office/drawing/2014/main" id="{4400DDA6-55D5-41C2-A304-172135F663D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182" y="1782165"/>
            <a:ext cx="827226" cy="82722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1" name="Picture 16">
            <a:extLst>
              <a:ext uri="{FF2B5EF4-FFF2-40B4-BE49-F238E27FC236}">
                <a16:creationId xmlns:a16="http://schemas.microsoft.com/office/drawing/2014/main" id="{72082311-ED14-4085-AED1-FF57D3DEB60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56" y="3400778"/>
            <a:ext cx="827226" cy="88538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2" name="Picture 20">
            <a:extLst>
              <a:ext uri="{FF2B5EF4-FFF2-40B4-BE49-F238E27FC236}">
                <a16:creationId xmlns:a16="http://schemas.microsoft.com/office/drawing/2014/main" id="{E6261C89-531D-4E3F-B982-D57D8AA34E3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6028" y="2514313"/>
            <a:ext cx="893738" cy="82722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3" name="Picture 8">
            <a:extLst>
              <a:ext uri="{FF2B5EF4-FFF2-40B4-BE49-F238E27FC236}">
                <a16:creationId xmlns:a16="http://schemas.microsoft.com/office/drawing/2014/main" id="{A8A1B675-D201-4A25-B4B9-A8FBF647442D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166" y="869073"/>
            <a:ext cx="827226" cy="82632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4" name="Picture 18">
            <a:extLst>
              <a:ext uri="{FF2B5EF4-FFF2-40B4-BE49-F238E27FC236}">
                <a16:creationId xmlns:a16="http://schemas.microsoft.com/office/drawing/2014/main" id="{1640E5B2-C528-48CC-8E42-D64A528F6411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884" y="4333075"/>
            <a:ext cx="827226" cy="82632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5" name="Picture 22">
            <a:extLst>
              <a:ext uri="{FF2B5EF4-FFF2-40B4-BE49-F238E27FC236}">
                <a16:creationId xmlns:a16="http://schemas.microsoft.com/office/drawing/2014/main" id="{5F50D387-5A23-4D3A-8E5E-62C713E715C5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27" y="5004860"/>
            <a:ext cx="827226" cy="83669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49283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3500"/>
                            </p:stCondLst>
                            <p:childTnLst>
                              <p:par>
                                <p:cTn id="10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4500"/>
                            </p:stCondLst>
                            <p:childTnLst>
                              <p:par>
                                <p:cTn id="1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500"/>
                            </p:stCondLst>
                            <p:childTnLst>
                              <p:par>
                                <p:cTn id="16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2" grpId="0" animBg="1"/>
      <p:bldP spid="33" grpId="0" animBg="1"/>
      <p:bldP spid="35" grpId="0" animBg="1"/>
      <p:bldP spid="37" grpId="0" animBg="1"/>
      <p:bldP spid="38" grpId="0"/>
      <p:bldP spid="39" grpId="0"/>
      <p:bldP spid="40" grpId="0"/>
      <p:bldP spid="42" grpId="0" animBg="1"/>
      <p:bldP spid="44" grpId="0" animBg="1"/>
      <p:bldP spid="45" grpId="0"/>
      <p:bldP spid="46" grpId="0"/>
      <p:bldP spid="48" grpId="0" animBg="1"/>
      <p:bldP spid="49" grpId="0" animBg="1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 animBg="1"/>
      <p:bldP spid="58" grpId="0" animBg="1"/>
      <p:bldP spid="59" grpId="0" animBg="1"/>
      <p:bldP spid="6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07243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062" y="-39191"/>
            <a:ext cx="13176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9" name="Picture 12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0808" y="0"/>
            <a:ext cx="13176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5714" y="-4328"/>
            <a:ext cx="132238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329362" y="202345"/>
            <a:ext cx="38049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Etude de l’existant </a:t>
            </a:r>
          </a:p>
        </p:txBody>
      </p:sp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676" y="172291"/>
            <a:ext cx="706438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Image 7" descr="Une image contenant équipement électronique, circuit, assis&#10;&#10;Description générée automatiquement">
            <a:extLst>
              <a:ext uri="{FF2B5EF4-FFF2-40B4-BE49-F238E27FC236}">
                <a16:creationId xmlns:a16="http://schemas.microsoft.com/office/drawing/2014/main" id="{D266C001-C48B-4A9C-8790-1F8FED81A4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036" y="1291773"/>
            <a:ext cx="774619" cy="580552"/>
          </a:xfrm>
          <a:prstGeom prst="rect">
            <a:avLst/>
          </a:prstGeom>
        </p:spPr>
      </p:pic>
      <p:pic>
        <p:nvPicPr>
          <p:cNvPr id="13" name="Image 12" descr="Une image contenant équipement électronique, circuit&#10;&#10;Description générée automatiquement">
            <a:extLst>
              <a:ext uri="{FF2B5EF4-FFF2-40B4-BE49-F238E27FC236}">
                <a16:creationId xmlns:a16="http://schemas.microsoft.com/office/drawing/2014/main" id="{BA51A53B-9C05-4354-97C7-93E2E16F3F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221" y="1377904"/>
            <a:ext cx="2219904" cy="1281847"/>
          </a:xfrm>
          <a:prstGeom prst="rect">
            <a:avLst/>
          </a:prstGeom>
        </p:spPr>
      </p:pic>
      <p:pic>
        <p:nvPicPr>
          <p:cNvPr id="30" name="Image 29" descr="Une image contenant équipement électronique, circuit&#10;&#10;Description générée automatiquement">
            <a:extLst>
              <a:ext uri="{FF2B5EF4-FFF2-40B4-BE49-F238E27FC236}">
                <a16:creationId xmlns:a16="http://schemas.microsoft.com/office/drawing/2014/main" id="{7C149BC6-F146-4D90-B240-6B5E315E5D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898" y="3010046"/>
            <a:ext cx="2219904" cy="1281847"/>
          </a:xfrm>
          <a:prstGeom prst="rect">
            <a:avLst/>
          </a:prstGeom>
        </p:spPr>
      </p:pic>
      <p:pic>
        <p:nvPicPr>
          <p:cNvPr id="31" name="Image 30" descr="Une image contenant équipement électronique, circuit&#10;&#10;Description générée automatiquement">
            <a:extLst>
              <a:ext uri="{FF2B5EF4-FFF2-40B4-BE49-F238E27FC236}">
                <a16:creationId xmlns:a16="http://schemas.microsoft.com/office/drawing/2014/main" id="{E7021D1B-04F5-4768-A426-F79EAF25F4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898" y="4976912"/>
            <a:ext cx="2219904" cy="1281847"/>
          </a:xfrm>
          <a:prstGeom prst="rect">
            <a:avLst/>
          </a:prstGeom>
        </p:spPr>
      </p:pic>
      <p:pic>
        <p:nvPicPr>
          <p:cNvPr id="32" name="Image 31" descr="Une image contenant équipement électronique, circuit, assis&#10;&#10;Description générée automatiquement">
            <a:extLst>
              <a:ext uri="{FF2B5EF4-FFF2-40B4-BE49-F238E27FC236}">
                <a16:creationId xmlns:a16="http://schemas.microsoft.com/office/drawing/2014/main" id="{B6CD9886-327A-4B53-9943-EB605067BB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037" y="3904932"/>
            <a:ext cx="774619" cy="580552"/>
          </a:xfrm>
          <a:prstGeom prst="rect">
            <a:avLst/>
          </a:prstGeom>
        </p:spPr>
      </p:pic>
      <p:pic>
        <p:nvPicPr>
          <p:cNvPr id="34" name="Image 33" descr="Une image contenant équipement électronique, circuit, assis&#10;&#10;Description générée automatiquement">
            <a:extLst>
              <a:ext uri="{FF2B5EF4-FFF2-40B4-BE49-F238E27FC236}">
                <a16:creationId xmlns:a16="http://schemas.microsoft.com/office/drawing/2014/main" id="{BFAA6566-D677-4BA7-B031-F64EBD4737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792" y="2143978"/>
            <a:ext cx="774619" cy="580552"/>
          </a:xfrm>
          <a:prstGeom prst="rect">
            <a:avLst/>
          </a:prstGeom>
        </p:spPr>
      </p:pic>
      <p:pic>
        <p:nvPicPr>
          <p:cNvPr id="35" name="Image 34" descr="Une image contenant équipement électronique, circuit, assis&#10;&#10;Description générée automatiquement">
            <a:extLst>
              <a:ext uri="{FF2B5EF4-FFF2-40B4-BE49-F238E27FC236}">
                <a16:creationId xmlns:a16="http://schemas.microsoft.com/office/drawing/2014/main" id="{B5F1F006-BFA4-4CE7-9FA3-03D41C1296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7247" y="3095079"/>
            <a:ext cx="774619" cy="580552"/>
          </a:xfrm>
          <a:prstGeom prst="rect">
            <a:avLst/>
          </a:prstGeom>
        </p:spPr>
      </p:pic>
      <p:pic>
        <p:nvPicPr>
          <p:cNvPr id="36" name="Image 35" descr="Une image contenant équipement électronique, circuit, assis&#10;&#10;Description générée automatiquement">
            <a:extLst>
              <a:ext uri="{FF2B5EF4-FFF2-40B4-BE49-F238E27FC236}">
                <a16:creationId xmlns:a16="http://schemas.microsoft.com/office/drawing/2014/main" id="{381255F6-A835-4710-AC39-87FEEBBF4E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792" y="4938226"/>
            <a:ext cx="774619" cy="580552"/>
          </a:xfrm>
          <a:prstGeom prst="rect">
            <a:avLst/>
          </a:prstGeom>
        </p:spPr>
      </p:pic>
      <p:pic>
        <p:nvPicPr>
          <p:cNvPr id="37" name="Image 36" descr="Une image contenant équipement électronique, circuit, assis&#10;&#10;Description générée automatiquement">
            <a:extLst>
              <a:ext uri="{FF2B5EF4-FFF2-40B4-BE49-F238E27FC236}">
                <a16:creationId xmlns:a16="http://schemas.microsoft.com/office/drawing/2014/main" id="{95EDF1CF-8982-4945-BC16-7759A34062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792" y="5832479"/>
            <a:ext cx="774619" cy="580552"/>
          </a:xfrm>
          <a:prstGeom prst="rect">
            <a:avLst/>
          </a:prstGeom>
        </p:spPr>
      </p:pic>
      <p:pic>
        <p:nvPicPr>
          <p:cNvPr id="43" name="Graphique 42" descr="Flèche : incurvée dans le sens des aiguilles d’une montre">
            <a:extLst>
              <a:ext uri="{FF2B5EF4-FFF2-40B4-BE49-F238E27FC236}">
                <a16:creationId xmlns:a16="http://schemas.microsoft.com/office/drawing/2014/main" id="{639986BF-97C4-4249-AF29-61C472C687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7827992">
            <a:off x="9082754" y="969159"/>
            <a:ext cx="1447886" cy="1447886"/>
          </a:xfrm>
          <a:prstGeom prst="rect">
            <a:avLst/>
          </a:prstGeom>
        </p:spPr>
      </p:pic>
      <p:pic>
        <p:nvPicPr>
          <p:cNvPr id="45" name="Graphique 44" descr="Flèche : courbe légère">
            <a:extLst>
              <a:ext uri="{FF2B5EF4-FFF2-40B4-BE49-F238E27FC236}">
                <a16:creationId xmlns:a16="http://schemas.microsoft.com/office/drawing/2014/main" id="{D07829A7-EA8E-4BDE-A99D-34BF03C3580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1094922">
            <a:off x="8913942" y="1762862"/>
            <a:ext cx="1518733" cy="1227664"/>
          </a:xfrm>
          <a:prstGeom prst="rect">
            <a:avLst/>
          </a:prstGeom>
        </p:spPr>
      </p:pic>
      <p:pic>
        <p:nvPicPr>
          <p:cNvPr id="53" name="Graphique 52" descr="Flèche : incurvée dans le sens des aiguilles d’une montre">
            <a:extLst>
              <a:ext uri="{FF2B5EF4-FFF2-40B4-BE49-F238E27FC236}">
                <a16:creationId xmlns:a16="http://schemas.microsoft.com/office/drawing/2014/main" id="{043CCE05-BB20-4B86-B945-3C4274FCB1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7827992">
            <a:off x="9064647" y="2537800"/>
            <a:ext cx="1447886" cy="1447886"/>
          </a:xfrm>
          <a:prstGeom prst="rect">
            <a:avLst/>
          </a:prstGeom>
        </p:spPr>
      </p:pic>
      <p:pic>
        <p:nvPicPr>
          <p:cNvPr id="55" name="Graphique 54" descr="Flèche : courbe légère">
            <a:extLst>
              <a:ext uri="{FF2B5EF4-FFF2-40B4-BE49-F238E27FC236}">
                <a16:creationId xmlns:a16="http://schemas.microsoft.com/office/drawing/2014/main" id="{9B452537-B4DB-47CE-88FE-FFA0635D75A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1094922">
            <a:off x="9011370" y="3359718"/>
            <a:ext cx="1518733" cy="1227664"/>
          </a:xfrm>
          <a:prstGeom prst="rect">
            <a:avLst/>
          </a:prstGeom>
        </p:spPr>
      </p:pic>
      <p:pic>
        <p:nvPicPr>
          <p:cNvPr id="56" name="Graphique 55" descr="Flèche : incurvée dans le sens des aiguilles d’une montre">
            <a:extLst>
              <a:ext uri="{FF2B5EF4-FFF2-40B4-BE49-F238E27FC236}">
                <a16:creationId xmlns:a16="http://schemas.microsoft.com/office/drawing/2014/main" id="{4FB00BE3-A4A2-4006-82BD-400A1EF446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7827992">
            <a:off x="9082755" y="4416569"/>
            <a:ext cx="1447886" cy="1447886"/>
          </a:xfrm>
          <a:prstGeom prst="rect">
            <a:avLst/>
          </a:prstGeom>
        </p:spPr>
      </p:pic>
      <p:pic>
        <p:nvPicPr>
          <p:cNvPr id="57" name="Graphique 56" descr="Flèche : courbe légère">
            <a:extLst>
              <a:ext uri="{FF2B5EF4-FFF2-40B4-BE49-F238E27FC236}">
                <a16:creationId xmlns:a16="http://schemas.microsoft.com/office/drawing/2014/main" id="{72CD5470-BCA2-481B-909A-F9437A57AC5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1094922">
            <a:off x="8990482" y="5324384"/>
            <a:ext cx="1518733" cy="1227664"/>
          </a:xfrm>
          <a:prstGeom prst="rect">
            <a:avLst/>
          </a:prstGeom>
        </p:spPr>
      </p:pic>
      <p:pic>
        <p:nvPicPr>
          <p:cNvPr id="63" name="Graphique 62" descr="Flèche : courbe légère">
            <a:extLst>
              <a:ext uri="{FF2B5EF4-FFF2-40B4-BE49-F238E27FC236}">
                <a16:creationId xmlns:a16="http://schemas.microsoft.com/office/drawing/2014/main" id="{DBE88CA0-1063-46F2-9E35-40709AB3B45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1094922">
            <a:off x="2595151" y="1906671"/>
            <a:ext cx="3987094" cy="1227664"/>
          </a:xfrm>
          <a:prstGeom prst="rect">
            <a:avLst/>
          </a:prstGeom>
        </p:spPr>
      </p:pic>
      <p:pic>
        <p:nvPicPr>
          <p:cNvPr id="66" name="Graphique 65" descr="Flèche : courbe légère">
            <a:extLst>
              <a:ext uri="{FF2B5EF4-FFF2-40B4-BE49-F238E27FC236}">
                <a16:creationId xmlns:a16="http://schemas.microsoft.com/office/drawing/2014/main" id="{63BBFFEF-AF61-49EC-B4A5-A1A18EF5002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1094922">
            <a:off x="2596982" y="3714229"/>
            <a:ext cx="3987094" cy="1227664"/>
          </a:xfrm>
          <a:prstGeom prst="rect">
            <a:avLst/>
          </a:prstGeom>
        </p:spPr>
      </p:pic>
      <p:pic>
        <p:nvPicPr>
          <p:cNvPr id="67" name="Graphique 66" descr="Flèche : courbe légère">
            <a:extLst>
              <a:ext uri="{FF2B5EF4-FFF2-40B4-BE49-F238E27FC236}">
                <a16:creationId xmlns:a16="http://schemas.microsoft.com/office/drawing/2014/main" id="{17DB01CD-9722-4A6F-8254-93CA28CFA61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1094922">
            <a:off x="2595150" y="5501114"/>
            <a:ext cx="3987094" cy="1227664"/>
          </a:xfrm>
          <a:prstGeom prst="rect">
            <a:avLst/>
          </a:prstGeom>
        </p:spPr>
      </p:pic>
      <p:pic>
        <p:nvPicPr>
          <p:cNvPr id="68" name="Graphique 67" descr="Flèche : courbe légère">
            <a:extLst>
              <a:ext uri="{FF2B5EF4-FFF2-40B4-BE49-F238E27FC236}">
                <a16:creationId xmlns:a16="http://schemas.microsoft.com/office/drawing/2014/main" id="{6D4446D7-B6D2-4CBF-9A50-097341C8FE5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0800000">
            <a:off x="2516917" y="1017302"/>
            <a:ext cx="3987094" cy="1227664"/>
          </a:xfrm>
          <a:prstGeom prst="rect">
            <a:avLst/>
          </a:prstGeom>
        </p:spPr>
      </p:pic>
      <p:pic>
        <p:nvPicPr>
          <p:cNvPr id="70" name="Graphique 69" descr="Flèche : courbe légère">
            <a:extLst>
              <a:ext uri="{FF2B5EF4-FFF2-40B4-BE49-F238E27FC236}">
                <a16:creationId xmlns:a16="http://schemas.microsoft.com/office/drawing/2014/main" id="{2AF2E561-A82D-4EC3-A377-5A1E338B9D5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10800000">
            <a:off x="2550562" y="2745886"/>
            <a:ext cx="3987094" cy="1227664"/>
          </a:xfrm>
          <a:prstGeom prst="rect">
            <a:avLst/>
          </a:prstGeom>
        </p:spPr>
      </p:pic>
      <p:pic>
        <p:nvPicPr>
          <p:cNvPr id="71" name="Graphique 70" descr="Flèche : courbe légère">
            <a:extLst>
              <a:ext uri="{FF2B5EF4-FFF2-40B4-BE49-F238E27FC236}">
                <a16:creationId xmlns:a16="http://schemas.microsoft.com/office/drawing/2014/main" id="{AC7D418F-9567-4D02-8192-9C6E53AD59E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10800000">
            <a:off x="2595150" y="4613290"/>
            <a:ext cx="3987094" cy="1227664"/>
          </a:xfrm>
          <a:prstGeom prst="rect">
            <a:avLst/>
          </a:prstGeom>
        </p:spPr>
      </p:pic>
      <p:pic>
        <p:nvPicPr>
          <p:cNvPr id="74" name="Graphique 73" descr="Blogue">
            <a:extLst>
              <a:ext uri="{FF2B5EF4-FFF2-40B4-BE49-F238E27FC236}">
                <a16:creationId xmlns:a16="http://schemas.microsoft.com/office/drawing/2014/main" id="{0B296A0C-BEB1-4213-8191-0FCE08E7DE8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750397" y="2110589"/>
            <a:ext cx="914400" cy="914400"/>
          </a:xfrm>
          <a:prstGeom prst="rect">
            <a:avLst/>
          </a:prstGeom>
        </p:spPr>
      </p:pic>
      <p:pic>
        <p:nvPicPr>
          <p:cNvPr id="60" name="Image 59" descr="Une image contenant dessin&#10;&#10;Description générée automatiquement">
            <a:extLst>
              <a:ext uri="{FF2B5EF4-FFF2-40B4-BE49-F238E27FC236}">
                <a16:creationId xmlns:a16="http://schemas.microsoft.com/office/drawing/2014/main" id="{FA3E668D-4A21-4930-8998-74DC088F6E1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1878" y="2764541"/>
            <a:ext cx="3403174" cy="2552381"/>
          </a:xfrm>
          <a:prstGeom prst="rect">
            <a:avLst/>
          </a:prstGeom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FE59EBC6-3B94-416B-9720-8F43A85C2F0B}"/>
              </a:ext>
            </a:extLst>
          </p:cNvPr>
          <p:cNvSpPr/>
          <p:nvPr/>
        </p:nvSpPr>
        <p:spPr>
          <a:xfrm>
            <a:off x="3909355" y="1802888"/>
            <a:ext cx="1192955" cy="400110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fr-FR" sz="20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BUS CAN</a:t>
            </a:r>
            <a:endParaRPr lang="x-none" sz="2000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E79940A-1C36-42C6-977B-D12B3DCDCC1F}"/>
              </a:ext>
            </a:extLst>
          </p:cNvPr>
          <p:cNvSpPr/>
          <p:nvPr/>
        </p:nvSpPr>
        <p:spPr>
          <a:xfrm>
            <a:off x="3757664" y="3670292"/>
            <a:ext cx="1192955" cy="400110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fr-FR" sz="20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BUS CAN</a:t>
            </a:r>
            <a:endParaRPr lang="x-none" sz="2000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B52531B-0EB6-4C5D-B1EB-874C4512FE46}"/>
              </a:ext>
            </a:extLst>
          </p:cNvPr>
          <p:cNvSpPr/>
          <p:nvPr/>
        </p:nvSpPr>
        <p:spPr>
          <a:xfrm>
            <a:off x="3855187" y="5438944"/>
            <a:ext cx="1192955" cy="400110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fr-FR" sz="20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BUS CAN</a:t>
            </a:r>
            <a:endParaRPr lang="x-none" sz="2000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923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9" grpId="0" animBg="1"/>
      <p:bldP spid="8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DEF5E870-F0D9-4ECF-B312-E561B2B12013}"/>
              </a:ext>
            </a:extLst>
          </p:cNvPr>
          <p:cNvSpPr/>
          <p:nvPr/>
        </p:nvSpPr>
        <p:spPr>
          <a:xfrm>
            <a:off x="3804604" y="1919851"/>
            <a:ext cx="4255217" cy="3023094"/>
          </a:xfrm>
          <a:prstGeom prst="ellipse">
            <a:avLst/>
          </a:prstGeom>
          <a:solidFill>
            <a:schemeClr val="accent1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C6A43383-5831-43E3-898D-9FD795BE6C72}"/>
              </a:ext>
            </a:extLst>
          </p:cNvPr>
          <p:cNvSpPr/>
          <p:nvPr/>
        </p:nvSpPr>
        <p:spPr>
          <a:xfrm>
            <a:off x="7018576" y="2232052"/>
            <a:ext cx="628979" cy="59167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cxnSp>
        <p:nvCxnSpPr>
          <p:cNvPr id="103" name="Straight Connector 50">
            <a:extLst>
              <a:ext uri="{FF2B5EF4-FFF2-40B4-BE49-F238E27FC236}">
                <a16:creationId xmlns:a16="http://schemas.microsoft.com/office/drawing/2014/main" id="{0BFD23B7-187B-4278-ACC1-2BABCE399C48}"/>
              </a:ext>
            </a:extLst>
          </p:cNvPr>
          <p:cNvCxnSpPr>
            <a:cxnSpLocks/>
            <a:stCxn id="28" idx="1"/>
            <a:endCxn id="21" idx="7"/>
          </p:cNvCxnSpPr>
          <p:nvPr/>
        </p:nvCxnSpPr>
        <p:spPr>
          <a:xfrm flipH="1">
            <a:off x="7555443" y="1649426"/>
            <a:ext cx="603604" cy="669274"/>
          </a:xfrm>
          <a:prstGeom prst="line">
            <a:avLst/>
          </a:prstGeom>
          <a:ln w="34925">
            <a:solidFill>
              <a:schemeClr val="accent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6" name="Image 115">
            <a:extLst>
              <a:ext uri="{FF2B5EF4-FFF2-40B4-BE49-F238E27FC236}">
                <a16:creationId xmlns:a16="http://schemas.microsoft.com/office/drawing/2014/main" id="{FC5F7D06-458F-46D7-9A92-34391BD3E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693" y="1763379"/>
            <a:ext cx="2187492" cy="2427466"/>
          </a:xfrm>
          <a:prstGeom prst="rect">
            <a:avLst/>
          </a:prstGeom>
        </p:spPr>
      </p:pic>
      <p:sp>
        <p:nvSpPr>
          <p:cNvPr id="117" name="Rectangle 116">
            <a:extLst>
              <a:ext uri="{FF2B5EF4-FFF2-40B4-BE49-F238E27FC236}">
                <a16:creationId xmlns:a16="http://schemas.microsoft.com/office/drawing/2014/main" id="{9B8FDD37-6B0E-46F6-A539-1F0F2D0924EB}"/>
              </a:ext>
            </a:extLst>
          </p:cNvPr>
          <p:cNvSpPr/>
          <p:nvPr/>
        </p:nvSpPr>
        <p:spPr>
          <a:xfrm>
            <a:off x="2923447" y="3695414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defTabSz="9144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1" dirty="0">
              <a:solidFill>
                <a:schemeClr val="tx1">
                  <a:lumMod val="75000"/>
                  <a:lumOff val="25000"/>
                </a:schemeClr>
              </a:solidFill>
              <a:cs typeface="Times New Roman" pitchFamily="18"/>
            </a:endParaRP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5805048F-8CFF-4457-9E6D-784EFC5F50A2}"/>
              </a:ext>
            </a:extLst>
          </p:cNvPr>
          <p:cNvSpPr/>
          <p:nvPr/>
        </p:nvSpPr>
        <p:spPr>
          <a:xfrm>
            <a:off x="8159047" y="1066800"/>
            <a:ext cx="3854823" cy="1165252"/>
          </a:xfrm>
          <a:prstGeom prst="roundRect">
            <a:avLst/>
          </a:prstGeom>
          <a:solidFill>
            <a:schemeClr val="accent2">
              <a:lumMod val="40000"/>
              <a:lumOff val="60000"/>
              <a:alpha val="56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x-none" dirty="0"/>
          </a:p>
        </p:txBody>
      </p:sp>
      <p:sp>
        <p:nvSpPr>
          <p:cNvPr id="29" name="Title 20">
            <a:extLst>
              <a:ext uri="{FF2B5EF4-FFF2-40B4-BE49-F238E27FC236}">
                <a16:creationId xmlns:a16="http://schemas.microsoft.com/office/drawing/2014/main" id="{E44CAD0B-3A74-4206-B5A4-A1C45E8F6617}"/>
              </a:ext>
            </a:extLst>
          </p:cNvPr>
          <p:cNvSpPr txBox="1">
            <a:spLocks/>
          </p:cNvSpPr>
          <p:nvPr/>
        </p:nvSpPr>
        <p:spPr bwMode="auto">
          <a:xfrm>
            <a:off x="8213855" y="1305501"/>
            <a:ext cx="4059472" cy="915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3" tIns="45716" rIns="91433" bIns="45716" anchor="ctr">
            <a:spAutoFit/>
          </a:bodyPr>
          <a:lstStyle>
            <a:lvl1pPr defTabSz="45720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Les risques d’erreurs humains</a:t>
            </a:r>
          </a:p>
          <a:p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+mn-ea"/>
            </a:endParaRPr>
          </a:p>
          <a:p>
            <a:pPr>
              <a:lnSpc>
                <a:spcPct val="130000"/>
              </a:lnSpc>
            </a:pPr>
            <a:endParaRPr lang="en-US" altLang="fr-FR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221FF204-4889-46E4-AD84-2D9E3D43D04B}"/>
              </a:ext>
            </a:extLst>
          </p:cNvPr>
          <p:cNvSpPr/>
          <p:nvPr/>
        </p:nvSpPr>
        <p:spPr>
          <a:xfrm>
            <a:off x="6940018" y="4264487"/>
            <a:ext cx="628979" cy="59167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38941E9C-0E0A-4951-8309-1B3603DEE424}"/>
              </a:ext>
            </a:extLst>
          </p:cNvPr>
          <p:cNvSpPr/>
          <p:nvPr/>
        </p:nvSpPr>
        <p:spPr>
          <a:xfrm>
            <a:off x="8297839" y="5092135"/>
            <a:ext cx="3854824" cy="1219799"/>
          </a:xfrm>
          <a:prstGeom prst="roundRect">
            <a:avLst/>
          </a:prstGeom>
          <a:solidFill>
            <a:schemeClr val="accent5">
              <a:lumMod val="40000"/>
              <a:lumOff val="60000"/>
              <a:alpha val="68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Coûte trop cher </a:t>
            </a:r>
            <a:endParaRPr lang="fr-FR" sz="2000" dirty="0">
              <a:solidFill>
                <a:schemeClr val="tx1">
                  <a:lumMod val="75000"/>
                  <a:lumOff val="2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cxnSp>
        <p:nvCxnSpPr>
          <p:cNvPr id="49" name="Straight Connector 50">
            <a:extLst>
              <a:ext uri="{FF2B5EF4-FFF2-40B4-BE49-F238E27FC236}">
                <a16:creationId xmlns:a16="http://schemas.microsoft.com/office/drawing/2014/main" id="{C0149927-A6F3-4526-A648-F4AB94052E22}"/>
              </a:ext>
            </a:extLst>
          </p:cNvPr>
          <p:cNvCxnSpPr>
            <a:cxnSpLocks/>
          </p:cNvCxnSpPr>
          <p:nvPr/>
        </p:nvCxnSpPr>
        <p:spPr>
          <a:xfrm flipH="1" flipV="1">
            <a:off x="7476885" y="4757634"/>
            <a:ext cx="820954" cy="932526"/>
          </a:xfrm>
          <a:prstGeom prst="line">
            <a:avLst/>
          </a:prstGeom>
          <a:ln w="34925">
            <a:solidFill>
              <a:schemeClr val="accent5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Ellipse 52">
            <a:extLst>
              <a:ext uri="{FF2B5EF4-FFF2-40B4-BE49-F238E27FC236}">
                <a16:creationId xmlns:a16="http://schemas.microsoft.com/office/drawing/2014/main" id="{31C99AA4-C847-4766-ABFB-348E13C86EA6}"/>
              </a:ext>
            </a:extLst>
          </p:cNvPr>
          <p:cNvSpPr/>
          <p:nvPr/>
        </p:nvSpPr>
        <p:spPr>
          <a:xfrm>
            <a:off x="4049075" y="2232052"/>
            <a:ext cx="628979" cy="59167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ADEEBE1A-4975-4F93-9926-B8077F6782A2}"/>
              </a:ext>
            </a:extLst>
          </p:cNvPr>
          <p:cNvSpPr/>
          <p:nvPr/>
        </p:nvSpPr>
        <p:spPr>
          <a:xfrm>
            <a:off x="73141" y="1274231"/>
            <a:ext cx="3317683" cy="1189313"/>
          </a:xfrm>
          <a:prstGeom prst="roundRect">
            <a:avLst/>
          </a:prstGeom>
          <a:solidFill>
            <a:schemeClr val="accent6">
              <a:lumMod val="40000"/>
              <a:lumOff val="60000"/>
              <a:alpha val="83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La mis a jour n’est faite en temps réel.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Perte de données</a:t>
            </a:r>
            <a:endParaRPr lang="x-none" dirty="0">
              <a:solidFill>
                <a:schemeClr val="tx1">
                  <a:lumMod val="95000"/>
                  <a:lumOff val="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cxnSp>
        <p:nvCxnSpPr>
          <p:cNvPr id="59" name="Straight Connector 50">
            <a:extLst>
              <a:ext uri="{FF2B5EF4-FFF2-40B4-BE49-F238E27FC236}">
                <a16:creationId xmlns:a16="http://schemas.microsoft.com/office/drawing/2014/main" id="{23454C93-89DC-44E9-811D-2A15C9837D0F}"/>
              </a:ext>
            </a:extLst>
          </p:cNvPr>
          <p:cNvCxnSpPr>
            <a:cxnSpLocks/>
            <a:stCxn id="53" idx="1"/>
            <a:endCxn id="54" idx="3"/>
          </p:cNvCxnSpPr>
          <p:nvPr/>
        </p:nvCxnSpPr>
        <p:spPr>
          <a:xfrm flipH="1" flipV="1">
            <a:off x="3390824" y="1868888"/>
            <a:ext cx="750363" cy="449812"/>
          </a:xfrm>
          <a:prstGeom prst="line">
            <a:avLst/>
          </a:prstGeom>
          <a:ln w="34925">
            <a:solidFill>
              <a:schemeClr val="accent6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07243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12"/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7265" y="0"/>
            <a:ext cx="1222182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4070" y="-38652"/>
            <a:ext cx="11162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7" name="Picture 12"/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8762" y="-19995"/>
            <a:ext cx="1149659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04" y="143910"/>
            <a:ext cx="7064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427752" y="202359"/>
            <a:ext cx="27134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Problématique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F43904D-3CDA-4CDD-AF3F-D0F113DF2638}"/>
              </a:ext>
            </a:extLst>
          </p:cNvPr>
          <p:cNvSpPr txBox="1"/>
          <p:nvPr/>
        </p:nvSpPr>
        <p:spPr>
          <a:xfrm>
            <a:off x="4939693" y="3765342"/>
            <a:ext cx="234236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Test manuel </a:t>
            </a:r>
          </a:p>
          <a:p>
            <a:pPr algn="l"/>
            <a:endParaRPr lang="fr-FR" b="1" u="sng" dirty="0">
              <a:solidFill>
                <a:srgbClr val="660099"/>
              </a:solidFill>
              <a:effectLst/>
              <a:latin typeface="arial" panose="020B0604020202020204" pitchFamily="34" charset="0"/>
              <a:hlinkClick r:id="rId8"/>
            </a:endParaRPr>
          </a:p>
        </p:txBody>
      </p:sp>
    </p:spTree>
    <p:extLst>
      <p:ext uri="{BB962C8B-B14F-4D97-AF65-F5344CB8AC3E}">
        <p14:creationId xmlns:p14="http://schemas.microsoft.com/office/powerpoint/2010/main" val="1813318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8" grpId="0" animBg="1"/>
      <p:bldP spid="29" grpId="0"/>
      <p:bldP spid="47" grpId="0" animBg="1"/>
      <p:bldP spid="48" grpId="0" animBg="1"/>
      <p:bldP spid="53" grpId="0" animBg="1"/>
      <p:bldP spid="5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07243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062" y="-39191"/>
            <a:ext cx="13176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9" name="Picture 12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0808" y="0"/>
            <a:ext cx="13176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5714" y="-4328"/>
            <a:ext cx="132238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65695" y="171042"/>
            <a:ext cx="48313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Solution proposée</a:t>
            </a:r>
            <a:r>
              <a:rPr lang="fr-FR" sz="3600" b="1" dirty="0"/>
              <a:t>  </a:t>
            </a:r>
            <a:endParaRPr lang="fr-FR" sz="3600" dirty="0"/>
          </a:p>
        </p:txBody>
      </p:sp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14" y="143371"/>
            <a:ext cx="7064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Image 5" descr="Une image contenant texte&#10;&#10;Description générée automatiquement">
            <a:extLst>
              <a:ext uri="{FF2B5EF4-FFF2-40B4-BE49-F238E27FC236}">
                <a16:creationId xmlns:a16="http://schemas.microsoft.com/office/drawing/2014/main" id="{C4C497FC-A62C-4973-8E3B-CE883C5E3C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14" y="1436722"/>
            <a:ext cx="10617188" cy="542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797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 rot="2640623">
            <a:off x="2768429" y="2627336"/>
            <a:ext cx="3167338" cy="197952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ounded Rectangle 10"/>
          <p:cNvSpPr/>
          <p:nvPr/>
        </p:nvSpPr>
        <p:spPr>
          <a:xfrm rot="2417372">
            <a:off x="6376342" y="1042464"/>
            <a:ext cx="174349" cy="324200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ounded Rectangle 11"/>
          <p:cNvSpPr/>
          <p:nvPr/>
        </p:nvSpPr>
        <p:spPr>
          <a:xfrm>
            <a:off x="5356259" y="3775862"/>
            <a:ext cx="214397" cy="2956956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ounded Rectangle 12"/>
          <p:cNvSpPr/>
          <p:nvPr/>
        </p:nvSpPr>
        <p:spPr>
          <a:xfrm>
            <a:off x="7102729" y="1847619"/>
            <a:ext cx="2885704" cy="641267"/>
          </a:xfrm>
          <a:prstGeom prst="roundRect">
            <a:avLst/>
          </a:prstGeom>
          <a:ln>
            <a:solidFill>
              <a:schemeClr val="bg1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dk1"/>
          </a:lnRef>
          <a:fillRef idx="1001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Capture des besoins techniques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42401" y="3034183"/>
            <a:ext cx="2885704" cy="641267"/>
          </a:xfrm>
          <a:prstGeom prst="roundRect">
            <a:avLst/>
          </a:prstGeom>
          <a:ln>
            <a:solidFill>
              <a:schemeClr val="bg1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dk1"/>
          </a:lnRef>
          <a:fillRef idx="1001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Architecture matériel et logiciel 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03251" y="1895121"/>
            <a:ext cx="2885704" cy="641267"/>
          </a:xfrm>
          <a:prstGeom prst="roundRect">
            <a:avLst/>
          </a:prstGeom>
          <a:ln>
            <a:solidFill>
              <a:schemeClr val="bg1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dk1"/>
          </a:lnRef>
          <a:fillRef idx="1001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Capture des besoins fonctionnels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701481" y="3054946"/>
            <a:ext cx="2885704" cy="641267"/>
          </a:xfrm>
          <a:prstGeom prst="roundRect">
            <a:avLst/>
          </a:prstGeom>
          <a:ln>
            <a:solidFill>
              <a:schemeClr val="bg1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dk1"/>
          </a:lnRef>
          <a:fillRef idx="1001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Analyse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17011" y="4368178"/>
            <a:ext cx="2885704" cy="641267"/>
          </a:xfrm>
          <a:prstGeom prst="roundRect">
            <a:avLst/>
          </a:prstGeom>
          <a:ln>
            <a:solidFill>
              <a:schemeClr val="bg1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dk1"/>
          </a:lnRef>
          <a:fillRef idx="1001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Conception préliminaire 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127804" y="5355771"/>
            <a:ext cx="2885704" cy="641267"/>
          </a:xfrm>
          <a:prstGeom prst="roundRect">
            <a:avLst/>
          </a:prstGeom>
          <a:ln>
            <a:solidFill>
              <a:schemeClr val="bg1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dk1"/>
          </a:lnRef>
          <a:fillRef idx="1001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Conception détaillée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035567" y="6185101"/>
            <a:ext cx="2885704" cy="547718"/>
          </a:xfrm>
          <a:prstGeom prst="roundRect">
            <a:avLst/>
          </a:prstGeom>
          <a:ln>
            <a:solidFill>
              <a:schemeClr val="bg1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dk1"/>
          </a:lnRef>
          <a:fillRef idx="1001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Codage, Test et Recette</a:t>
            </a:r>
          </a:p>
        </p:txBody>
      </p:sp>
      <p:sp>
        <p:nvSpPr>
          <p:cNvPr id="20" name="Cloud Callout 19"/>
          <p:cNvSpPr/>
          <p:nvPr/>
        </p:nvSpPr>
        <p:spPr>
          <a:xfrm>
            <a:off x="9749642" y="1011195"/>
            <a:ext cx="2103217" cy="984677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Branche technique</a:t>
            </a:r>
          </a:p>
        </p:txBody>
      </p:sp>
      <p:sp>
        <p:nvSpPr>
          <p:cNvPr id="21" name="Cloud Callout 20"/>
          <p:cNvSpPr/>
          <p:nvPr/>
        </p:nvSpPr>
        <p:spPr>
          <a:xfrm>
            <a:off x="223241" y="1062472"/>
            <a:ext cx="2218058" cy="897656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Branche fonctionnelle</a:t>
            </a:r>
          </a:p>
        </p:txBody>
      </p:sp>
      <p:sp>
        <p:nvSpPr>
          <p:cNvPr id="22" name="Cloud Callout 21"/>
          <p:cNvSpPr/>
          <p:nvPr/>
        </p:nvSpPr>
        <p:spPr>
          <a:xfrm>
            <a:off x="7708062" y="4688811"/>
            <a:ext cx="2765974" cy="1496289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Branche conception et développement logiciel</a:t>
            </a:r>
          </a:p>
        </p:txBody>
      </p:sp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9191"/>
            <a:ext cx="807243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062" y="-39191"/>
            <a:ext cx="13176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9" name="Picture 12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0808" y="0"/>
            <a:ext cx="13176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5714" y="-4328"/>
            <a:ext cx="132238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76454" y="156868"/>
            <a:ext cx="65017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Méthodologie du travail adoptée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38422" y="1698171"/>
            <a:ext cx="689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2TUP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2" y="127838"/>
            <a:ext cx="7064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7510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50">
            <a:extLst>
              <a:ext uri="{FF2B5EF4-FFF2-40B4-BE49-F238E27FC236}">
                <a16:creationId xmlns:a16="http://schemas.microsoft.com/office/drawing/2014/main" id="{CEA7C8B3-9F2C-493A-9B56-87ABA7D89434}"/>
              </a:ext>
            </a:extLst>
          </p:cNvPr>
          <p:cNvCxnSpPr>
            <a:cxnSpLocks/>
            <a:stCxn id="8" idx="6"/>
            <a:endCxn id="12" idx="1"/>
          </p:cNvCxnSpPr>
          <p:nvPr/>
        </p:nvCxnSpPr>
        <p:spPr>
          <a:xfrm flipV="1">
            <a:off x="4275410" y="2251904"/>
            <a:ext cx="1646196" cy="1451254"/>
          </a:xfrm>
          <a:prstGeom prst="line">
            <a:avLst/>
          </a:prstGeom>
          <a:ln w="3492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50">
            <a:extLst>
              <a:ext uri="{FF2B5EF4-FFF2-40B4-BE49-F238E27FC236}">
                <a16:creationId xmlns:a16="http://schemas.microsoft.com/office/drawing/2014/main" id="{83AD932E-04BE-4700-B6F7-57C88018B627}"/>
              </a:ext>
            </a:extLst>
          </p:cNvPr>
          <p:cNvCxnSpPr>
            <a:cxnSpLocks/>
            <a:stCxn id="8" idx="6"/>
            <a:endCxn id="11" idx="1"/>
          </p:cNvCxnSpPr>
          <p:nvPr/>
        </p:nvCxnSpPr>
        <p:spPr>
          <a:xfrm flipV="1">
            <a:off x="4275410" y="1397349"/>
            <a:ext cx="1006802" cy="2305809"/>
          </a:xfrm>
          <a:prstGeom prst="line">
            <a:avLst/>
          </a:prstGeom>
          <a:ln w="349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>
            <a:extLst>
              <a:ext uri="{FF2B5EF4-FFF2-40B4-BE49-F238E27FC236}">
                <a16:creationId xmlns:a16="http://schemas.microsoft.com/office/drawing/2014/main" id="{615401B4-51B7-43EA-B3A3-1AE21499ABE6}"/>
              </a:ext>
            </a:extLst>
          </p:cNvPr>
          <p:cNvSpPr/>
          <p:nvPr/>
        </p:nvSpPr>
        <p:spPr>
          <a:xfrm>
            <a:off x="-1189275" y="1046551"/>
            <a:ext cx="5464685" cy="5313214"/>
          </a:xfrm>
          <a:prstGeom prst="ellipse">
            <a:avLst/>
          </a:prstGeom>
          <a:solidFill>
            <a:schemeClr val="accent1">
              <a:lumMod val="60000"/>
              <a:lumOff val="40000"/>
              <a:alpha val="3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A33E382-7F57-4F0A-BC82-AA5FA6D4436B}"/>
              </a:ext>
            </a:extLst>
          </p:cNvPr>
          <p:cNvSpPr/>
          <p:nvPr/>
        </p:nvSpPr>
        <p:spPr>
          <a:xfrm>
            <a:off x="55257" y="4649178"/>
            <a:ext cx="1878419" cy="3419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tx1"/>
                </a:solidFill>
                <a:latin typeface="Century Gothic" panose="020B0502020202020204" pitchFamily="34" charset="0"/>
              </a:rPr>
              <a:t>Ingénieure test</a:t>
            </a:r>
          </a:p>
        </p:txBody>
      </p:sp>
      <p:pic>
        <p:nvPicPr>
          <p:cNvPr id="38" name="Picture 1">
            <a:extLst>
              <a:ext uri="{FF2B5EF4-FFF2-40B4-BE49-F238E27FC236}">
                <a16:creationId xmlns:a16="http://schemas.microsoft.com/office/drawing/2014/main" id="{5D809102-D425-45B7-823B-15A2B0299D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82" y="2851584"/>
            <a:ext cx="1231168" cy="1729712"/>
          </a:xfrm>
          <a:prstGeom prst="rect">
            <a:avLst/>
          </a:prstGeom>
        </p:spPr>
      </p:pic>
      <p:sp>
        <p:nvSpPr>
          <p:cNvPr id="39" name="Bulle narrative : ronde 38">
            <a:extLst>
              <a:ext uri="{FF2B5EF4-FFF2-40B4-BE49-F238E27FC236}">
                <a16:creationId xmlns:a16="http://schemas.microsoft.com/office/drawing/2014/main" id="{5D47FD89-BD75-4024-9A02-778F21A45EE8}"/>
              </a:ext>
            </a:extLst>
          </p:cNvPr>
          <p:cNvSpPr/>
          <p:nvPr/>
        </p:nvSpPr>
        <p:spPr>
          <a:xfrm>
            <a:off x="1295629" y="2020125"/>
            <a:ext cx="2546827" cy="902364"/>
          </a:xfrm>
          <a:prstGeom prst="wedgeEllipseCallout">
            <a:avLst>
              <a:gd name="adj1" fmla="val -36063"/>
              <a:gd name="adj2" fmla="val 64292"/>
            </a:avLst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Century Gothic" panose="020B0502020202020204" pitchFamily="34" charset="0"/>
              </a:rPr>
              <a:t>Besoins fonctionnels</a:t>
            </a:r>
            <a:endParaRPr lang="x-none" b="1" dirty="0">
              <a:latin typeface="Century Gothic" panose="020B0502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36E9D4-EA8E-471B-8984-374380653C79}"/>
              </a:ext>
            </a:extLst>
          </p:cNvPr>
          <p:cNvSpPr/>
          <p:nvPr/>
        </p:nvSpPr>
        <p:spPr>
          <a:xfrm>
            <a:off x="5282212" y="1197294"/>
            <a:ext cx="6896650" cy="40011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20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Créer un plan de test</a:t>
            </a:r>
            <a:endParaRPr lang="x-none" sz="2000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7D881C-64E2-43C0-8767-EDD800D32A14}"/>
              </a:ext>
            </a:extLst>
          </p:cNvPr>
          <p:cNvSpPr/>
          <p:nvPr/>
        </p:nvSpPr>
        <p:spPr>
          <a:xfrm>
            <a:off x="5921606" y="2051849"/>
            <a:ext cx="2555187" cy="400110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fr-FR" sz="20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Créer un script de test</a:t>
            </a:r>
            <a:endParaRPr lang="x-none" sz="2000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6553E0-0014-45F7-88CD-19ACD11A4100}"/>
              </a:ext>
            </a:extLst>
          </p:cNvPr>
          <p:cNvSpPr/>
          <p:nvPr/>
        </p:nvSpPr>
        <p:spPr>
          <a:xfrm>
            <a:off x="6562006" y="2768949"/>
            <a:ext cx="5443947" cy="400110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20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Superviser les sorties des tests</a:t>
            </a:r>
            <a:endParaRPr lang="x-none" sz="2000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EE59DA-1F19-47B2-B6F9-2150530CD799}"/>
              </a:ext>
            </a:extLst>
          </p:cNvPr>
          <p:cNvSpPr/>
          <p:nvPr/>
        </p:nvSpPr>
        <p:spPr>
          <a:xfrm>
            <a:off x="5930657" y="5320911"/>
            <a:ext cx="6261343" cy="400110"/>
          </a:xfrm>
          <a:prstGeom prst="rect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20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Déposer le code sur </a:t>
            </a:r>
            <a:r>
              <a:rPr lang="fr-FR" sz="2000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GitLab</a:t>
            </a:r>
            <a:endParaRPr lang="x-none" sz="2000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1F3DAD-CC8C-409F-A15C-A420168BF9EE}"/>
              </a:ext>
            </a:extLst>
          </p:cNvPr>
          <p:cNvSpPr/>
          <p:nvPr/>
        </p:nvSpPr>
        <p:spPr>
          <a:xfrm>
            <a:off x="7029496" y="3703158"/>
            <a:ext cx="4976457" cy="400110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20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Exécuter un script de test</a:t>
            </a:r>
            <a:endParaRPr lang="x-none" sz="2000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2B886B-DC18-42B2-92C3-6A244EDCEFF8}"/>
              </a:ext>
            </a:extLst>
          </p:cNvPr>
          <p:cNvSpPr/>
          <p:nvPr/>
        </p:nvSpPr>
        <p:spPr>
          <a:xfrm>
            <a:off x="7013321" y="4466187"/>
            <a:ext cx="4992632" cy="400110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20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Configurer Jenkins</a:t>
            </a:r>
            <a:endParaRPr lang="x-none" sz="2000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cxnSp>
        <p:nvCxnSpPr>
          <p:cNvPr id="32" name="Straight Connector 50">
            <a:extLst>
              <a:ext uri="{FF2B5EF4-FFF2-40B4-BE49-F238E27FC236}">
                <a16:creationId xmlns:a16="http://schemas.microsoft.com/office/drawing/2014/main" id="{A5554C87-AC27-44EB-A9F4-44901E792F26}"/>
              </a:ext>
            </a:extLst>
          </p:cNvPr>
          <p:cNvCxnSpPr>
            <a:cxnSpLocks/>
            <a:stCxn id="8" idx="6"/>
            <a:endCxn id="13" idx="1"/>
          </p:cNvCxnSpPr>
          <p:nvPr/>
        </p:nvCxnSpPr>
        <p:spPr>
          <a:xfrm flipV="1">
            <a:off x="4275410" y="2969004"/>
            <a:ext cx="2286596" cy="734154"/>
          </a:xfrm>
          <a:prstGeom prst="line">
            <a:avLst/>
          </a:prstGeom>
          <a:ln w="34925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50">
            <a:extLst>
              <a:ext uri="{FF2B5EF4-FFF2-40B4-BE49-F238E27FC236}">
                <a16:creationId xmlns:a16="http://schemas.microsoft.com/office/drawing/2014/main" id="{F5C9305D-2178-45F8-B1E5-F41DBD25AE03}"/>
              </a:ext>
            </a:extLst>
          </p:cNvPr>
          <p:cNvCxnSpPr>
            <a:cxnSpLocks/>
            <a:stCxn id="15" idx="1"/>
            <a:endCxn id="8" idx="6"/>
          </p:cNvCxnSpPr>
          <p:nvPr/>
        </p:nvCxnSpPr>
        <p:spPr>
          <a:xfrm flipH="1" flipV="1">
            <a:off x="4275410" y="3703158"/>
            <a:ext cx="2754086" cy="200055"/>
          </a:xfrm>
          <a:prstGeom prst="line">
            <a:avLst/>
          </a:prstGeom>
          <a:ln w="34925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50">
            <a:extLst>
              <a:ext uri="{FF2B5EF4-FFF2-40B4-BE49-F238E27FC236}">
                <a16:creationId xmlns:a16="http://schemas.microsoft.com/office/drawing/2014/main" id="{8F474BD0-45F0-4A7D-963D-C0DEE99044A3}"/>
              </a:ext>
            </a:extLst>
          </p:cNvPr>
          <p:cNvCxnSpPr>
            <a:cxnSpLocks/>
            <a:stCxn id="8" idx="6"/>
            <a:endCxn id="16" idx="1"/>
          </p:cNvCxnSpPr>
          <p:nvPr/>
        </p:nvCxnSpPr>
        <p:spPr>
          <a:xfrm>
            <a:off x="4275410" y="3703158"/>
            <a:ext cx="2737911" cy="963084"/>
          </a:xfrm>
          <a:prstGeom prst="line">
            <a:avLst/>
          </a:prstGeom>
          <a:ln w="34925"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06247BF-24FA-49EF-8348-6FD739F43011}"/>
              </a:ext>
            </a:extLst>
          </p:cNvPr>
          <p:cNvCxnSpPr>
            <a:cxnSpLocks/>
          </p:cNvCxnSpPr>
          <p:nvPr/>
        </p:nvCxnSpPr>
        <p:spPr>
          <a:xfrm>
            <a:off x="4302768" y="3751709"/>
            <a:ext cx="1642109" cy="1659174"/>
          </a:xfrm>
          <a:prstGeom prst="line">
            <a:avLst/>
          </a:prstGeom>
          <a:ln w="34925">
            <a:solidFill>
              <a:schemeClr val="accent3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249"/>
            <a:ext cx="8072438" cy="98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9642" y="-20249"/>
            <a:ext cx="1322388" cy="98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0537" y="-20249"/>
            <a:ext cx="1322388" cy="98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1766" y="-20249"/>
            <a:ext cx="1322388" cy="98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411" y="123163"/>
            <a:ext cx="749300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214022" y="123163"/>
            <a:ext cx="6602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Les besoins fonctionnels</a:t>
            </a:r>
          </a:p>
        </p:txBody>
      </p:sp>
    </p:spTree>
    <p:extLst>
      <p:ext uri="{BB962C8B-B14F-4D97-AF65-F5344CB8AC3E}">
        <p14:creationId xmlns:p14="http://schemas.microsoft.com/office/powerpoint/2010/main" val="535447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07243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062" y="-39191"/>
            <a:ext cx="13176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9" name="Picture 12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0808" y="0"/>
            <a:ext cx="13176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5714" y="-4328"/>
            <a:ext cx="132238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TextBox 20"/>
          <p:cNvSpPr txBox="1"/>
          <p:nvPr/>
        </p:nvSpPr>
        <p:spPr>
          <a:xfrm>
            <a:off x="1307220" y="179528"/>
            <a:ext cx="61578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Les besoins de l’ingénieure test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164" y="222700"/>
            <a:ext cx="749300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4670" y="4709886"/>
            <a:ext cx="1610797" cy="2148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0F14563A-0EF7-47DE-BEE0-10C99F2005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64" y="1452977"/>
            <a:ext cx="8516539" cy="518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597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lipse 7">
            <a:extLst>
              <a:ext uri="{FF2B5EF4-FFF2-40B4-BE49-F238E27FC236}">
                <a16:creationId xmlns:a16="http://schemas.microsoft.com/office/drawing/2014/main" id="{615401B4-51B7-43EA-B3A3-1AE21499ABE6}"/>
              </a:ext>
            </a:extLst>
          </p:cNvPr>
          <p:cNvSpPr/>
          <p:nvPr/>
        </p:nvSpPr>
        <p:spPr>
          <a:xfrm>
            <a:off x="-1189275" y="1046551"/>
            <a:ext cx="5464685" cy="5313214"/>
          </a:xfrm>
          <a:prstGeom prst="ellipse">
            <a:avLst/>
          </a:prstGeom>
          <a:solidFill>
            <a:schemeClr val="accent1">
              <a:lumMod val="60000"/>
              <a:lumOff val="40000"/>
              <a:alpha val="3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A33E382-7F57-4F0A-BC82-AA5FA6D4436B}"/>
              </a:ext>
            </a:extLst>
          </p:cNvPr>
          <p:cNvSpPr/>
          <p:nvPr/>
        </p:nvSpPr>
        <p:spPr>
          <a:xfrm>
            <a:off x="55257" y="4649178"/>
            <a:ext cx="1878419" cy="3419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tx1"/>
                </a:solidFill>
                <a:latin typeface="Century Gothic" panose="020B0502020202020204" pitchFamily="34" charset="0"/>
              </a:rPr>
              <a:t>Ingénieure test</a:t>
            </a:r>
          </a:p>
        </p:txBody>
      </p:sp>
      <p:pic>
        <p:nvPicPr>
          <p:cNvPr id="38" name="Picture 1">
            <a:extLst>
              <a:ext uri="{FF2B5EF4-FFF2-40B4-BE49-F238E27FC236}">
                <a16:creationId xmlns:a16="http://schemas.microsoft.com/office/drawing/2014/main" id="{5D809102-D425-45B7-823B-15A2B0299D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82" y="2851584"/>
            <a:ext cx="1231168" cy="172971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C36E9D4-EA8E-471B-8984-374380653C79}"/>
              </a:ext>
            </a:extLst>
          </p:cNvPr>
          <p:cNvSpPr/>
          <p:nvPr/>
        </p:nvSpPr>
        <p:spPr>
          <a:xfrm>
            <a:off x="5852299" y="1818687"/>
            <a:ext cx="1782860" cy="40011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fr-FR" sz="2000" b="1" dirty="0">
                <a:latin typeface="Century Gothic" panose="020B0502020202020204" pitchFamily="34" charset="0"/>
              </a:rPr>
              <a:t>Performance</a:t>
            </a:r>
            <a:endParaRPr lang="x-none" sz="2000" b="1" dirty="0">
              <a:latin typeface="Century Gothic" panose="020B0502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7D881C-64E2-43C0-8767-EDD800D32A14}"/>
              </a:ext>
            </a:extLst>
          </p:cNvPr>
          <p:cNvSpPr/>
          <p:nvPr/>
        </p:nvSpPr>
        <p:spPr>
          <a:xfrm>
            <a:off x="6206395" y="3104969"/>
            <a:ext cx="1132041" cy="400110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fr-FR" sz="2000" b="1" dirty="0">
                <a:latin typeface="Century Gothic" panose="020B0502020202020204" pitchFamily="34" charset="0"/>
              </a:rPr>
              <a:t>Fiabilité</a:t>
            </a:r>
            <a:endParaRPr lang="x-none" sz="2000" b="1" dirty="0">
              <a:latin typeface="Century Gothic" panose="020B0502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6553E0-0014-45F7-88CD-19ACD11A4100}"/>
              </a:ext>
            </a:extLst>
          </p:cNvPr>
          <p:cNvSpPr/>
          <p:nvPr/>
        </p:nvSpPr>
        <p:spPr>
          <a:xfrm>
            <a:off x="5926658" y="4649178"/>
            <a:ext cx="4291559" cy="400110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fr-FR" sz="2000" b="1" dirty="0">
                <a:latin typeface="Century Gothic" panose="020B0502020202020204" pitchFamily="34" charset="0"/>
              </a:rPr>
              <a:t>Une solution ouverte et évolutive </a:t>
            </a:r>
            <a:endParaRPr lang="x-none" sz="2000" b="1" dirty="0">
              <a:latin typeface="Century Gothic" panose="020B0502020202020204" pitchFamily="34" charset="0"/>
            </a:endParaRPr>
          </a:p>
        </p:txBody>
      </p:sp>
      <p:sp>
        <p:nvSpPr>
          <p:cNvPr id="9" name="Phylactère : pensées 8">
            <a:extLst>
              <a:ext uri="{FF2B5EF4-FFF2-40B4-BE49-F238E27FC236}">
                <a16:creationId xmlns:a16="http://schemas.microsoft.com/office/drawing/2014/main" id="{7D56311D-143B-4DF7-A86D-64A8D1D4594B}"/>
              </a:ext>
            </a:extLst>
          </p:cNvPr>
          <p:cNvSpPr/>
          <p:nvPr/>
        </p:nvSpPr>
        <p:spPr>
          <a:xfrm>
            <a:off x="985944" y="1808863"/>
            <a:ext cx="2678497" cy="1035554"/>
          </a:xfrm>
          <a:prstGeom prst="cloudCallout">
            <a:avLst>
              <a:gd name="adj1" fmla="val -37978"/>
              <a:gd name="adj2" fmla="val 63997"/>
            </a:avLst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entury Gothic" panose="020B0502020202020204" pitchFamily="34" charset="0"/>
              </a:rPr>
              <a:t>Besoins non fonctionnels</a:t>
            </a:r>
            <a:endParaRPr lang="x-none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27" name="Straight Connector 50">
            <a:extLst>
              <a:ext uri="{FF2B5EF4-FFF2-40B4-BE49-F238E27FC236}">
                <a16:creationId xmlns:a16="http://schemas.microsoft.com/office/drawing/2014/main" id="{E08B557C-D56E-426F-AC50-65FE9C1086AB}"/>
              </a:ext>
            </a:extLst>
          </p:cNvPr>
          <p:cNvCxnSpPr>
            <a:cxnSpLocks/>
            <a:stCxn id="8" idx="6"/>
            <a:endCxn id="11" idx="1"/>
          </p:cNvCxnSpPr>
          <p:nvPr/>
        </p:nvCxnSpPr>
        <p:spPr>
          <a:xfrm flipV="1">
            <a:off x="4275410" y="2018742"/>
            <a:ext cx="1576889" cy="1684416"/>
          </a:xfrm>
          <a:prstGeom prst="line">
            <a:avLst/>
          </a:prstGeom>
          <a:ln w="349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50">
            <a:extLst>
              <a:ext uri="{FF2B5EF4-FFF2-40B4-BE49-F238E27FC236}">
                <a16:creationId xmlns:a16="http://schemas.microsoft.com/office/drawing/2014/main" id="{CE1F081E-6995-44BB-A2AE-42A6BC7530B4}"/>
              </a:ext>
            </a:extLst>
          </p:cNvPr>
          <p:cNvCxnSpPr>
            <a:cxnSpLocks/>
          </p:cNvCxnSpPr>
          <p:nvPr/>
        </p:nvCxnSpPr>
        <p:spPr>
          <a:xfrm flipV="1">
            <a:off x="4275410" y="3301137"/>
            <a:ext cx="1895800" cy="415303"/>
          </a:xfrm>
          <a:prstGeom prst="line">
            <a:avLst/>
          </a:prstGeom>
          <a:ln w="3492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50">
            <a:extLst>
              <a:ext uri="{FF2B5EF4-FFF2-40B4-BE49-F238E27FC236}">
                <a16:creationId xmlns:a16="http://schemas.microsoft.com/office/drawing/2014/main" id="{039EB722-7B7E-44D5-AD65-B3D84A09FBDB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4275410" y="3716440"/>
            <a:ext cx="1651248" cy="1132793"/>
          </a:xfrm>
          <a:prstGeom prst="line">
            <a:avLst/>
          </a:prstGeom>
          <a:ln w="34925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9658" y="14902"/>
            <a:ext cx="1322388" cy="966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6365" y="0"/>
            <a:ext cx="1322388" cy="98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122" y="0"/>
            <a:ext cx="1322388" cy="98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57" y="28211"/>
            <a:ext cx="8072438" cy="98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63F33623-44F7-464B-A62D-16B14DBDEDAE}"/>
              </a:ext>
            </a:extLst>
          </p:cNvPr>
          <p:cNvSpPr txBox="1"/>
          <p:nvPr/>
        </p:nvSpPr>
        <p:spPr>
          <a:xfrm>
            <a:off x="304334" y="215822"/>
            <a:ext cx="67202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Les besoins non fonctionnels</a:t>
            </a:r>
          </a:p>
        </p:txBody>
      </p:sp>
    </p:spTree>
    <p:extLst>
      <p:ext uri="{BB962C8B-B14F-4D97-AF65-F5344CB8AC3E}">
        <p14:creationId xmlns:p14="http://schemas.microsoft.com/office/powerpoint/2010/main" val="2451511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072438" cy="924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062" y="-39192"/>
            <a:ext cx="1317625" cy="110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9" name="Picture 12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0808" y="0"/>
            <a:ext cx="13176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5714" y="-4328"/>
            <a:ext cx="132238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1" name="Google Shape;613;p37"/>
          <p:cNvGrpSpPr/>
          <p:nvPr/>
        </p:nvGrpSpPr>
        <p:grpSpPr>
          <a:xfrm>
            <a:off x="484810" y="271711"/>
            <a:ext cx="678298" cy="576965"/>
            <a:chOff x="2594050" y="1631825"/>
            <a:chExt cx="439625" cy="439625"/>
          </a:xfrm>
        </p:grpSpPr>
        <p:sp>
          <p:nvSpPr>
            <p:cNvPr id="72" name="Google Shape;614;p37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615;p37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616;p37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617;p37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377538" y="146257"/>
            <a:ext cx="4341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Workflow du système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2890" y="3598223"/>
            <a:ext cx="2445648" cy="3259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Oval Callout 6"/>
          <p:cNvSpPr/>
          <p:nvPr/>
        </p:nvSpPr>
        <p:spPr>
          <a:xfrm>
            <a:off x="9703426" y="2373704"/>
            <a:ext cx="2290651" cy="1675781"/>
          </a:xfrm>
          <a:prstGeom prst="wedgeEllipseCallou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Processus de test</a:t>
            </a:r>
          </a:p>
        </p:txBody>
      </p:sp>
      <p:pic>
        <p:nvPicPr>
          <p:cNvPr id="5" name="Image 4" descr="Une image contenant texte, carte&#10;&#10;Description générée automatiquement">
            <a:extLst>
              <a:ext uri="{FF2B5EF4-FFF2-40B4-BE49-F238E27FC236}">
                <a16:creationId xmlns:a16="http://schemas.microsoft.com/office/drawing/2014/main" id="{87A84286-1561-428B-AD6E-14BFD45DDC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23" y="1013598"/>
            <a:ext cx="8392890" cy="558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774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072438" cy="924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062" y="-39192"/>
            <a:ext cx="1317625" cy="110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9" name="Picture 12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0808" y="0"/>
            <a:ext cx="13176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5714" y="-4328"/>
            <a:ext cx="132238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1" name="Google Shape;613;p37"/>
          <p:cNvGrpSpPr/>
          <p:nvPr/>
        </p:nvGrpSpPr>
        <p:grpSpPr>
          <a:xfrm>
            <a:off x="484810" y="271711"/>
            <a:ext cx="678298" cy="576965"/>
            <a:chOff x="2594050" y="1631825"/>
            <a:chExt cx="439625" cy="439625"/>
          </a:xfrm>
        </p:grpSpPr>
        <p:sp>
          <p:nvSpPr>
            <p:cNvPr id="72" name="Google Shape;614;p37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615;p37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616;p37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617;p37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377538" y="146257"/>
            <a:ext cx="5023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fr-FR" sz="3600" b="1" dirty="0">
                <a:solidFill>
                  <a:schemeClr val="bg1"/>
                </a:solidFill>
              </a:rPr>
              <a:t> Référentiel de test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A21E72A-250C-4FF0-93AB-2D5F7C633C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006" y="1152985"/>
            <a:ext cx="2891083" cy="5347500"/>
          </a:xfrm>
          <a:prstGeom prst="rect">
            <a:avLst/>
          </a:prstGeom>
        </p:spPr>
      </p:pic>
      <p:pic>
        <p:nvPicPr>
          <p:cNvPr id="8" name="Image 7" descr="Une image contenant capture d’écran&#10;&#10;Description générée automatiquement">
            <a:extLst>
              <a:ext uri="{FF2B5EF4-FFF2-40B4-BE49-F238E27FC236}">
                <a16:creationId xmlns:a16="http://schemas.microsoft.com/office/drawing/2014/main" id="{E09DC57C-C715-44CC-84E1-251B65672C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1" y="1103122"/>
            <a:ext cx="3366314" cy="5391902"/>
          </a:xfrm>
          <a:prstGeom prst="rect">
            <a:avLst/>
          </a:prstGeom>
        </p:spPr>
      </p:pic>
      <p:pic>
        <p:nvPicPr>
          <p:cNvPr id="10" name="Image 9" descr="Une image contenant capture d’écran&#10;&#10;Description générée automatiquement">
            <a:extLst>
              <a:ext uri="{FF2B5EF4-FFF2-40B4-BE49-F238E27FC236}">
                <a16:creationId xmlns:a16="http://schemas.microsoft.com/office/drawing/2014/main" id="{7B5BD68B-C988-43DF-9BE3-A35C7E3B33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0808" y="1315233"/>
            <a:ext cx="2820707" cy="5229654"/>
          </a:xfrm>
          <a:prstGeom prst="rect">
            <a:avLst/>
          </a:prstGeom>
        </p:spPr>
      </p:pic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889FF7C3-E9DD-4137-B69B-132C1ABFFE21}"/>
              </a:ext>
            </a:extLst>
          </p:cNvPr>
          <p:cNvSpPr/>
          <p:nvPr/>
        </p:nvSpPr>
        <p:spPr>
          <a:xfrm>
            <a:off x="3569918" y="3826735"/>
            <a:ext cx="764087" cy="2943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22" name="Flèche : droite 21">
            <a:extLst>
              <a:ext uri="{FF2B5EF4-FFF2-40B4-BE49-F238E27FC236}">
                <a16:creationId xmlns:a16="http://schemas.microsoft.com/office/drawing/2014/main" id="{F95A3E17-3CE8-4938-A9B4-2C387091F24A}"/>
              </a:ext>
            </a:extLst>
          </p:cNvPr>
          <p:cNvSpPr/>
          <p:nvPr/>
        </p:nvSpPr>
        <p:spPr>
          <a:xfrm>
            <a:off x="7745128" y="3679571"/>
            <a:ext cx="764087" cy="2943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809621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07243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062" y="-39191"/>
            <a:ext cx="13176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9" name="Picture 12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0808" y="0"/>
            <a:ext cx="13176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5714" y="-4328"/>
            <a:ext cx="132238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1" name="Google Shape;613;p37"/>
          <p:cNvGrpSpPr/>
          <p:nvPr/>
        </p:nvGrpSpPr>
        <p:grpSpPr>
          <a:xfrm>
            <a:off x="484810" y="271711"/>
            <a:ext cx="678298" cy="576965"/>
            <a:chOff x="2594050" y="1631825"/>
            <a:chExt cx="439625" cy="439625"/>
          </a:xfrm>
        </p:grpSpPr>
        <p:sp>
          <p:nvSpPr>
            <p:cNvPr id="72" name="Google Shape;614;p37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615;p37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616;p37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617;p37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1307220" y="179528"/>
            <a:ext cx="4990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Scénario de la réalisation</a:t>
            </a:r>
          </a:p>
        </p:txBody>
      </p:sp>
      <p:pic>
        <p:nvPicPr>
          <p:cNvPr id="3" name="Image 2" descr="Une image contenant capture d’écran, moniteur, assis, ordinateur&#10;&#10;Description générée automatiquement">
            <a:extLst>
              <a:ext uri="{FF2B5EF4-FFF2-40B4-BE49-F238E27FC236}">
                <a16:creationId xmlns:a16="http://schemas.microsoft.com/office/drawing/2014/main" id="{0A3E35C9-2186-4ACF-875E-10256DFF9C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2472"/>
            <a:ext cx="12191999" cy="589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349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07243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062" y="-39191"/>
            <a:ext cx="13176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9" name="Picture 12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0808" y="0"/>
            <a:ext cx="13176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5714" y="-4328"/>
            <a:ext cx="132238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1" name="Google Shape;613;p37"/>
          <p:cNvGrpSpPr/>
          <p:nvPr/>
        </p:nvGrpSpPr>
        <p:grpSpPr>
          <a:xfrm>
            <a:off x="484810" y="271711"/>
            <a:ext cx="678298" cy="576965"/>
            <a:chOff x="2594050" y="1631825"/>
            <a:chExt cx="439625" cy="439625"/>
          </a:xfrm>
        </p:grpSpPr>
        <p:sp>
          <p:nvSpPr>
            <p:cNvPr id="72" name="Google Shape;614;p37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615;p37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616;p37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617;p37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163108" y="157152"/>
            <a:ext cx="4990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Scénario de la réalisation</a:t>
            </a:r>
          </a:p>
        </p:txBody>
      </p:sp>
      <p:pic>
        <p:nvPicPr>
          <p:cNvPr id="4" name="Image 3" descr="Une image contenant capture d’écran&#10;&#10;Description générée automatiquement">
            <a:extLst>
              <a:ext uri="{FF2B5EF4-FFF2-40B4-BE49-F238E27FC236}">
                <a16:creationId xmlns:a16="http://schemas.microsoft.com/office/drawing/2014/main" id="{5AB3F341-815C-47F0-984E-5DA091EA17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" y="1112906"/>
            <a:ext cx="12184262" cy="558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265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07243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062" y="-39191"/>
            <a:ext cx="13176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9" name="Picture 12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0808" y="0"/>
            <a:ext cx="13176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5714" y="-4328"/>
            <a:ext cx="132238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1" name="Google Shape;613;p37"/>
          <p:cNvGrpSpPr/>
          <p:nvPr/>
        </p:nvGrpSpPr>
        <p:grpSpPr>
          <a:xfrm>
            <a:off x="484810" y="271711"/>
            <a:ext cx="678298" cy="576965"/>
            <a:chOff x="2594050" y="1631825"/>
            <a:chExt cx="439625" cy="439625"/>
          </a:xfrm>
        </p:grpSpPr>
        <p:sp>
          <p:nvSpPr>
            <p:cNvPr id="72" name="Google Shape;614;p37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615;p37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616;p37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617;p37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329362" y="202345"/>
            <a:ext cx="4990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Scénario de la réalisation</a:t>
            </a:r>
          </a:p>
        </p:txBody>
      </p:sp>
      <p:pic>
        <p:nvPicPr>
          <p:cNvPr id="4" name="Image 3" descr="Une image contenant capture d’écran, ordinateur, portable, assis&#10;&#10;Description générée automatiquement">
            <a:extLst>
              <a:ext uri="{FF2B5EF4-FFF2-40B4-BE49-F238E27FC236}">
                <a16:creationId xmlns:a16="http://schemas.microsoft.com/office/drawing/2014/main" id="{4494D422-BD29-4271-8F04-F41E897E04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1158"/>
            <a:ext cx="12192000" cy="570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684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5156"/>
            <a:ext cx="8072438" cy="963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161" y="0"/>
            <a:ext cx="1322388" cy="963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0062" y="0"/>
            <a:ext cx="1322388" cy="963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9459" y="0"/>
            <a:ext cx="1322388" cy="963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431421" y="158640"/>
            <a:ext cx="25766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Perspectives</a:t>
            </a:r>
          </a:p>
        </p:txBody>
      </p:sp>
      <p:sp>
        <p:nvSpPr>
          <p:cNvPr id="14" name="Freeform 21">
            <a:extLst>
              <a:ext uri="{FF2B5EF4-FFF2-40B4-BE49-F238E27FC236}">
                <a16:creationId xmlns:a16="http://schemas.microsoft.com/office/drawing/2014/main" id="{6EED5C7B-0B90-481F-9457-FA4896B6E51D}"/>
              </a:ext>
            </a:extLst>
          </p:cNvPr>
          <p:cNvSpPr>
            <a:spLocks/>
          </p:cNvSpPr>
          <p:nvPr/>
        </p:nvSpPr>
        <p:spPr bwMode="auto">
          <a:xfrm>
            <a:off x="1292697" y="2510040"/>
            <a:ext cx="8518364" cy="3188444"/>
          </a:xfrm>
          <a:custGeom>
            <a:avLst/>
            <a:gdLst>
              <a:gd name="T0" fmla="*/ 0 w 2828"/>
              <a:gd name="T1" fmla="*/ 856 h 1032"/>
              <a:gd name="T2" fmla="*/ 660 w 2828"/>
              <a:gd name="T3" fmla="*/ 540 h 1032"/>
              <a:gd name="T4" fmla="*/ 1232 w 2828"/>
              <a:gd name="T5" fmla="*/ 720 h 1032"/>
              <a:gd name="T6" fmla="*/ 1772 w 2828"/>
              <a:gd name="T7" fmla="*/ 320 h 1032"/>
              <a:gd name="T8" fmla="*/ 2315 w 2828"/>
              <a:gd name="T9" fmla="*/ 479 h 1032"/>
              <a:gd name="T10" fmla="*/ 2828 w 2828"/>
              <a:gd name="T11" fmla="*/ 0 h 10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28" h="1032">
                <a:moveTo>
                  <a:pt x="0" y="856"/>
                </a:moveTo>
                <a:cubicBezTo>
                  <a:pt x="420" y="1032"/>
                  <a:pt x="464" y="536"/>
                  <a:pt x="660" y="540"/>
                </a:cubicBezTo>
                <a:cubicBezTo>
                  <a:pt x="856" y="544"/>
                  <a:pt x="976" y="736"/>
                  <a:pt x="1232" y="720"/>
                </a:cubicBezTo>
                <a:cubicBezTo>
                  <a:pt x="1488" y="704"/>
                  <a:pt x="1508" y="352"/>
                  <a:pt x="1772" y="320"/>
                </a:cubicBezTo>
                <a:cubicBezTo>
                  <a:pt x="2036" y="288"/>
                  <a:pt x="2063" y="491"/>
                  <a:pt x="2315" y="479"/>
                </a:cubicBezTo>
                <a:cubicBezTo>
                  <a:pt x="2567" y="467"/>
                  <a:pt x="2572" y="84"/>
                  <a:pt x="2828" y="0"/>
                </a:cubicBezTo>
              </a:path>
            </a:pathLst>
          </a:custGeom>
          <a:noFill/>
          <a:ln w="15875" cap="flat">
            <a:solidFill>
              <a:schemeClr val="tx1">
                <a:lumMod val="65000"/>
                <a:lumOff val="35000"/>
              </a:schemeClr>
            </a:solidFill>
            <a:prstDash val="dash"/>
            <a:miter lim="800000"/>
            <a:headEnd/>
            <a:tailEnd/>
          </a:ln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88639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grpSp>
        <p:nvGrpSpPr>
          <p:cNvPr id="15" name="Group 66">
            <a:extLst>
              <a:ext uri="{FF2B5EF4-FFF2-40B4-BE49-F238E27FC236}">
                <a16:creationId xmlns:a16="http://schemas.microsoft.com/office/drawing/2014/main" id="{A9716D17-414B-4E45-9DE0-8748324D75A9}"/>
              </a:ext>
            </a:extLst>
          </p:cNvPr>
          <p:cNvGrpSpPr>
            <a:grpSpLocks/>
          </p:cNvGrpSpPr>
          <p:nvPr/>
        </p:nvGrpSpPr>
        <p:grpSpPr bwMode="auto">
          <a:xfrm>
            <a:off x="9811061" y="1882125"/>
            <a:ext cx="1480594" cy="728442"/>
            <a:chOff x="10452101" y="1779589"/>
            <a:chExt cx="365125" cy="219075"/>
          </a:xfrm>
        </p:grpSpPr>
        <p:sp>
          <p:nvSpPr>
            <p:cNvPr id="16" name="Freeform 22">
              <a:extLst>
                <a:ext uri="{FF2B5EF4-FFF2-40B4-BE49-F238E27FC236}">
                  <a16:creationId xmlns:a16="http://schemas.microsoft.com/office/drawing/2014/main" id="{65241196-28FD-4ACB-BDB7-A038DE5831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50413" y="1900295"/>
              <a:ext cx="112735" cy="98369"/>
            </a:xfrm>
            <a:custGeom>
              <a:avLst/>
              <a:gdLst>
                <a:gd name="T0" fmla="*/ 71 w 71"/>
                <a:gd name="T1" fmla="*/ 3 h 62"/>
                <a:gd name="T2" fmla="*/ 0 w 71"/>
                <a:gd name="T3" fmla="*/ 62 h 62"/>
                <a:gd name="T4" fmla="*/ 14 w 71"/>
                <a:gd name="T5" fmla="*/ 0 h 62"/>
                <a:gd name="T6" fmla="*/ 71 w 71"/>
                <a:gd name="T7" fmla="*/ 3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62">
                  <a:moveTo>
                    <a:pt x="71" y="3"/>
                  </a:moveTo>
                  <a:lnTo>
                    <a:pt x="0" y="62"/>
                  </a:lnTo>
                  <a:lnTo>
                    <a:pt x="14" y="0"/>
                  </a:lnTo>
                  <a:lnTo>
                    <a:pt x="71" y="3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/>
            <a:lstStyle/>
            <a:p>
              <a:pPr defTabSz="1088639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7" name="Freeform 23">
              <a:extLst>
                <a:ext uri="{FF2B5EF4-FFF2-40B4-BE49-F238E27FC236}">
                  <a16:creationId xmlns:a16="http://schemas.microsoft.com/office/drawing/2014/main" id="{30EBBE6A-31CA-427D-89CE-B6E536896C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2101" y="1779589"/>
              <a:ext cx="365125" cy="188842"/>
            </a:xfrm>
            <a:custGeom>
              <a:avLst/>
              <a:gdLst>
                <a:gd name="T0" fmla="*/ 230 w 230"/>
                <a:gd name="T1" fmla="*/ 0 h 119"/>
                <a:gd name="T2" fmla="*/ 0 w 230"/>
                <a:gd name="T3" fmla="*/ 26 h 119"/>
                <a:gd name="T4" fmla="*/ 140 w 230"/>
                <a:gd name="T5" fmla="*/ 119 h 119"/>
                <a:gd name="T6" fmla="*/ 230 w 230"/>
                <a:gd name="T7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0" h="119">
                  <a:moveTo>
                    <a:pt x="230" y="0"/>
                  </a:moveTo>
                  <a:lnTo>
                    <a:pt x="0" y="26"/>
                  </a:lnTo>
                  <a:lnTo>
                    <a:pt x="140" y="119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/>
            <a:lstStyle/>
            <a:p>
              <a:pPr defTabSz="1088639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8" name="Freeform 24">
              <a:extLst>
                <a:ext uri="{FF2B5EF4-FFF2-40B4-BE49-F238E27FC236}">
                  <a16:creationId xmlns:a16="http://schemas.microsoft.com/office/drawing/2014/main" id="{4E9ACFCB-926D-4A76-A26F-A8F730094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1424" y="1792224"/>
              <a:ext cx="258881" cy="206440"/>
            </a:xfrm>
            <a:custGeom>
              <a:avLst/>
              <a:gdLst>
                <a:gd name="T0" fmla="*/ 163 w 163"/>
                <a:gd name="T1" fmla="*/ 0 h 130"/>
                <a:gd name="T2" fmla="*/ 0 w 163"/>
                <a:gd name="T3" fmla="*/ 52 h 130"/>
                <a:gd name="T4" fmla="*/ 12 w 163"/>
                <a:gd name="T5" fmla="*/ 130 h 130"/>
                <a:gd name="T6" fmla="*/ 26 w 163"/>
                <a:gd name="T7" fmla="*/ 68 h 130"/>
                <a:gd name="T8" fmla="*/ 163 w 163"/>
                <a:gd name="T9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" h="130">
                  <a:moveTo>
                    <a:pt x="163" y="0"/>
                  </a:moveTo>
                  <a:lnTo>
                    <a:pt x="0" y="52"/>
                  </a:lnTo>
                  <a:lnTo>
                    <a:pt x="12" y="130"/>
                  </a:lnTo>
                  <a:lnTo>
                    <a:pt x="26" y="68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defTabSz="1088639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  <p:sp>
        <p:nvSpPr>
          <p:cNvPr id="19" name="Oval 19">
            <a:extLst>
              <a:ext uri="{FF2B5EF4-FFF2-40B4-BE49-F238E27FC236}">
                <a16:creationId xmlns:a16="http://schemas.microsoft.com/office/drawing/2014/main" id="{24C955D8-7D91-42E3-8453-BD8698862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028" y="3895557"/>
            <a:ext cx="1485059" cy="1558166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sz="2400" dirty="0">
              <a:solidFill>
                <a:schemeClr val="bg1"/>
              </a:solidFill>
              <a:latin typeface="FontAwesome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F048A1-B87E-42FE-95DF-7C891602C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513" y="2145050"/>
            <a:ext cx="339040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931863"/>
            <a:r>
              <a:rPr lang="fr-FR" sz="2000" dirty="0">
                <a:solidFill>
                  <a:schemeClr val="tx2">
                    <a:lumMod val="75000"/>
                  </a:schemeClr>
                </a:solidFill>
                <a:latin typeface="Segoe UI Light" pitchFamily="34" charset="0"/>
                <a:cs typeface="Segoe UI" pitchFamily="34" charset="0"/>
              </a:rPr>
              <a:t>Améliorer la robustesse du tests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1731B51-354B-498C-8855-5A4D65E48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9687" y="4438060"/>
            <a:ext cx="507304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931863"/>
            <a:r>
              <a:rPr lang="fr-FR" sz="2000" dirty="0">
                <a:solidFill>
                  <a:schemeClr val="tx2">
                    <a:lumMod val="75000"/>
                  </a:schemeClr>
                </a:solidFill>
                <a:latin typeface="Segoe UI Light" pitchFamily="34" charset="0"/>
                <a:cs typeface="Segoe UI" pitchFamily="34" charset="0"/>
              </a:rPr>
              <a:t>Empaqueter la solution et ses dépendances dans un conteneur isolé, qui pourra être exécuté sur n’importe quel serveur</a:t>
            </a:r>
          </a:p>
        </p:txBody>
      </p:sp>
      <p:sp>
        <p:nvSpPr>
          <p:cNvPr id="23" name="Oval 19">
            <a:extLst>
              <a:ext uri="{FF2B5EF4-FFF2-40B4-BE49-F238E27FC236}">
                <a16:creationId xmlns:a16="http://schemas.microsoft.com/office/drawing/2014/main" id="{74B438B3-41CF-42A4-B765-7566125E8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638" y="2791105"/>
            <a:ext cx="2127499" cy="1843525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lang="en-US" sz="2400" dirty="0">
              <a:solidFill>
                <a:schemeClr val="bg1"/>
              </a:solidFill>
              <a:latin typeface="FontAwesome"/>
            </a:endParaRPr>
          </a:p>
        </p:txBody>
      </p:sp>
      <p:pic>
        <p:nvPicPr>
          <p:cNvPr id="5" name="Image 4" descr="Une image contenant signe, horloge, alimentation&#10;&#10;Description générée automatiquement">
            <a:extLst>
              <a:ext uri="{FF2B5EF4-FFF2-40B4-BE49-F238E27FC236}">
                <a16:creationId xmlns:a16="http://schemas.microsoft.com/office/drawing/2014/main" id="{30D7E15E-DE34-42B5-8BD9-7399BE2A70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334" y="2991869"/>
            <a:ext cx="1258480" cy="1258480"/>
          </a:xfrm>
          <a:prstGeom prst="rect">
            <a:avLst/>
          </a:prstGeom>
        </p:spPr>
      </p:pic>
      <p:pic>
        <p:nvPicPr>
          <p:cNvPr id="28" name="Image 27" descr="Une image contenant dessin&#10;&#10;Description générée automatiquement">
            <a:extLst>
              <a:ext uri="{FF2B5EF4-FFF2-40B4-BE49-F238E27FC236}">
                <a16:creationId xmlns:a16="http://schemas.microsoft.com/office/drawing/2014/main" id="{438BFEFE-965F-4E35-8907-E7C026C820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5559" y="3964965"/>
            <a:ext cx="1892465" cy="141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118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EE39C3B-E042-4274-B935-851FDD379064}"/>
              </a:ext>
            </a:extLst>
          </p:cNvPr>
          <p:cNvSpPr/>
          <p:nvPr/>
        </p:nvSpPr>
        <p:spPr>
          <a:xfrm>
            <a:off x="2638129" y="1032524"/>
            <a:ext cx="632722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fr-FR" sz="3200" b="1" dirty="0">
                <a:solidFill>
                  <a:srgbClr val="00206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Merci de votre attention.</a:t>
            </a:r>
          </a:p>
          <a:p>
            <a:pPr lvl="0" algn="ctr">
              <a:spcBef>
                <a:spcPct val="0"/>
              </a:spcBef>
              <a:defRPr/>
            </a:pPr>
            <a:endParaRPr lang="en-US" sz="3200" b="1" dirty="0">
              <a:solidFill>
                <a:schemeClr val="bg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7" name="Oval 29">
            <a:extLst>
              <a:ext uri="{FF2B5EF4-FFF2-40B4-BE49-F238E27FC236}">
                <a16:creationId xmlns:a16="http://schemas.microsoft.com/office/drawing/2014/main" id="{48FA6231-3F77-4C46-98BA-35CAA4E6C967}"/>
              </a:ext>
            </a:extLst>
          </p:cNvPr>
          <p:cNvSpPr/>
          <p:nvPr/>
        </p:nvSpPr>
        <p:spPr>
          <a:xfrm>
            <a:off x="3780181" y="1759516"/>
            <a:ext cx="4230806" cy="453105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4015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7012</TotalTime>
  <Words>361</Words>
  <Application>Microsoft Office PowerPoint</Application>
  <PresentationFormat>Grand écran</PresentationFormat>
  <Paragraphs>89</Paragraphs>
  <Slides>16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9" baseType="lpstr">
      <vt:lpstr>Arial</vt:lpstr>
      <vt:lpstr>Arial</vt:lpstr>
      <vt:lpstr>Arial Black</vt:lpstr>
      <vt:lpstr>Bahnschrift</vt:lpstr>
      <vt:lpstr>Calibri</vt:lpstr>
      <vt:lpstr>Calibri Light</vt:lpstr>
      <vt:lpstr>Century Gothic</vt:lpstr>
      <vt:lpstr>FontAwesome</vt:lpstr>
      <vt:lpstr>Lato Light</vt:lpstr>
      <vt:lpstr>Segoe UI Light</vt:lpstr>
      <vt:lpstr>Source Sans Pro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Jihene Ben Gharbia</dc:creator>
  <cp:lastModifiedBy>Marwen KADRI</cp:lastModifiedBy>
  <cp:revision>214</cp:revision>
  <dcterms:created xsi:type="dcterms:W3CDTF">2018-06-08T13:58:41Z</dcterms:created>
  <dcterms:modified xsi:type="dcterms:W3CDTF">2020-07-17T14:17:58Z</dcterms:modified>
</cp:coreProperties>
</file>